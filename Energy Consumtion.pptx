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2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9144000" cy="5143500" type="screen16x9"/>
  <p:notesSz cx="5143500" cy="9144000"/>
  <p:embeddedFontLst>
    <p:embeddedFont>
      <p:font typeface="Lato Black" panose="020F0502020204030203" pitchFamily="34" charset="0"/>
      <p:bold r:id="rId21"/>
      <p:boldItalic r:id="rId22"/>
    </p:embeddedFont>
    <p:embeddedFont>
      <p:font typeface="Libre Baskerville" panose="02000000000000000000" pitchFamily="2" charset="0"/>
      <p:regular r:id="rId23"/>
      <p:bold r:id="rId24"/>
      <p:italic r:id="rId25"/>
      <p:boldItalic r:id="rId26"/>
    </p:embeddedFont>
    <p:embeddedFont>
      <p:font typeface="Roboto" panose="02000000000000000000" pitchFamily="2"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94660"/>
  </p:normalViewPr>
  <p:slideViewPr>
    <p:cSldViewPr snapToGrid="0">
      <p:cViewPr varScale="1">
        <p:scale>
          <a:sx n="89" d="100"/>
          <a:sy n="89" d="100"/>
        </p:scale>
        <p:origin x="786" y="7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6.fntdata"/><Relationship Id="rId3" Type="http://schemas.openxmlformats.org/officeDocument/2006/relationships/slide" Target="slides/slide1.xml"/><Relationship Id="rId21" Type="http://schemas.openxmlformats.org/officeDocument/2006/relationships/font" Target="fonts/font1.fntdata"/><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5.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4.fntdata"/><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200" b="0" i="0" u="none" strike="noStrike" cap="none">
              <a:solidFill>
                <a:schemeClr val="dk1"/>
              </a:solidFill>
              <a:latin typeface="Calibri"/>
              <a:ea typeface="Calibri"/>
              <a:cs typeface="Calibri"/>
              <a:sym typeface="Calibri"/>
            </a:endParaRPr>
          </a:p>
        </p:txBody>
      </p:sp>
      <p:sp>
        <p:nvSpPr>
          <p:cNvPr id="94" name="Google Shape;9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200" b="0" i="0" u="none" strike="noStrike" cap="none">
              <a:solidFill>
                <a:schemeClr val="dk1"/>
              </a:solidFill>
              <a:latin typeface="Calibri"/>
              <a:ea typeface="Calibri"/>
              <a:cs typeface="Calibri"/>
              <a:sym typeface="Calibri"/>
            </a:endParaRPr>
          </a:p>
        </p:txBody>
      </p:sp>
      <p:sp>
        <p:nvSpPr>
          <p:cNvPr id="101" name="Google Shape;10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 name="Google Shape;107;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08" name="Google Shape;108;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3</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 name="Google Shape;144;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45" name="Google Shape;145;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4</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8" name="Google Shape;168;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69" name="Google Shape;169;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5</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8" name="Google Shape;188;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9" name="Google Shape;189;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6</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3" name="Google Shape;213;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14" name="Google Shape;214;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7</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2" name="Google Shape;222;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3" name="Google Shape;223;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8</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6" name="Google Shape;276;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7" name="Google Shape;277;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9</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df1426fd4e_0_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9" name="Google Shape;289;g3df1426fd4e_0_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0" name="Google Shape;290;g3df1426fd4e_0_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10</a:t>
            </a:fld>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3df1426fd4e_0_5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2" name="Google Shape;302;g3df1426fd4e_0_5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3" name="Google Shape;303;g3df1426fd4e_0_5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11</a:t>
            </a:fld>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df1426fd4e_0_7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5" name="Google Shape;315;g3df1426fd4e_0_7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16" name="Google Shape;316;g3df1426fd4e_0_7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12</a:t>
            </a:fld>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3df1426fd4e_0_9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8" name="Google Shape;328;g3df1426fd4e_0_9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29" name="Google Shape;329;g3df1426fd4e_0_9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13</a:t>
            </a:fld>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1" name="Google Shape;341;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42" name="Google Shape;342;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14</a:t>
            </a:fld>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df1426fd4e_0_12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0" name="Google Shape;350;g3df1426fd4e_0_1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51" name="Google Shape;351;g3df1426fd4e_0_12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Calibri"/>
                <a:ea typeface="Calibri"/>
                <a:cs typeface="Calibri"/>
                <a:sym typeface="Calibri"/>
              </a:rPr>
              <a:t>15</a:t>
            </a:fld>
            <a:endParaRPr sz="1800">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df1426fd4e_0_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a:solidFill>
                <a:schemeClr val="dk1"/>
              </a:solidFill>
              <a:latin typeface="Calibri"/>
              <a:ea typeface="Calibri"/>
              <a:cs typeface="Calibri"/>
              <a:sym typeface="Calibri"/>
            </a:endParaRPr>
          </a:p>
        </p:txBody>
      </p:sp>
      <p:sp>
        <p:nvSpPr>
          <p:cNvPr id="359" name="Google Shape;359;g3df1426fd4e_0_1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endParaRPr sz="1200">
              <a:solidFill>
                <a:schemeClr val="dk1"/>
              </a:solidFill>
              <a:latin typeface="Calibri"/>
              <a:ea typeface="Calibri"/>
              <a:cs typeface="Calibri"/>
              <a:sym typeface="Calibri"/>
            </a:endParaRPr>
          </a:p>
        </p:txBody>
      </p:sp>
      <p:sp>
        <p:nvSpPr>
          <p:cNvPr id="366" name="Google Shape;36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628650" y="273843"/>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dt" idx="10"/>
          </p:nvPr>
        </p:nvSpPr>
        <p:spPr>
          <a:xfrm>
            <a:off x="628650" y="4767262"/>
            <a:ext cx="2057400" cy="27384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2"/>
          <p:cNvSpPr txBox="1">
            <a:spLocks noGrp="1"/>
          </p:cNvSpPr>
          <p:nvPr>
            <p:ph type="ftr" idx="11"/>
          </p:nvPr>
        </p:nvSpPr>
        <p:spPr>
          <a:xfrm>
            <a:off x="3028950" y="4767262"/>
            <a:ext cx="3086100" cy="27384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
          <p:cNvSpPr txBox="1">
            <a:spLocks noGrp="1"/>
          </p:cNvSpPr>
          <p:nvPr>
            <p:ph type="sldNum" idx="12"/>
          </p:nvPr>
        </p:nvSpPr>
        <p:spPr>
          <a:xfrm>
            <a:off x="6457950" y="4767262"/>
            <a:ext cx="2057400" cy="27384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6" name="Google Shape;16;p2"/>
          <p:cNvPicPr preferRelativeResize="0"/>
          <p:nvPr/>
        </p:nvPicPr>
        <p:blipFill rotWithShape="1">
          <a:blip r:embed="rId2">
            <a:alphaModFix/>
          </a:blip>
          <a:srcRect/>
          <a:stretch/>
        </p:blipFill>
        <p:spPr>
          <a:xfrm>
            <a:off x="6610674" y="4638738"/>
            <a:ext cx="2419047" cy="50476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3"/>
          <p:cNvSpPr txBox="1">
            <a:spLocks noGrp="1"/>
          </p:cNvSpPr>
          <p:nvPr>
            <p:ph type="dt" idx="10"/>
          </p:nvPr>
        </p:nvSpPr>
        <p:spPr>
          <a:xfrm>
            <a:off x="471487" y="3575446"/>
            <a:ext cx="1543050" cy="205382"/>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2271712" y="3575446"/>
            <a:ext cx="2314575" cy="205382"/>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4843462" y="3575446"/>
            <a:ext cx="1543050" cy="205382"/>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1" name="Google Shape;21;p3"/>
          <p:cNvPicPr preferRelativeResize="0"/>
          <p:nvPr/>
        </p:nvPicPr>
        <p:blipFill rotWithShape="1">
          <a:blip r:embed="rId2">
            <a:alphaModFix/>
          </a:blip>
          <a:srcRect/>
          <a:stretch/>
        </p:blipFill>
        <p:spPr>
          <a:xfrm>
            <a:off x="4958005" y="3479053"/>
            <a:ext cx="1814285" cy="37857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628650" y="273843"/>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4"/>
          <p:cNvSpPr txBox="1">
            <a:spLocks noGrp="1"/>
          </p:cNvSpPr>
          <p:nvPr>
            <p:ph type="body" idx="1"/>
          </p:nvPr>
        </p:nvSpPr>
        <p:spPr>
          <a:xfrm>
            <a:off x="628650" y="1369218"/>
            <a:ext cx="7886700" cy="326350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4"/>
          <p:cNvSpPr txBox="1">
            <a:spLocks noGrp="1"/>
          </p:cNvSpPr>
          <p:nvPr>
            <p:ph type="dt" idx="10"/>
          </p:nvPr>
        </p:nvSpPr>
        <p:spPr>
          <a:xfrm>
            <a:off x="628650" y="4767262"/>
            <a:ext cx="2057400" cy="273843"/>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3028950" y="4767262"/>
            <a:ext cx="3086100" cy="273843"/>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sldNum" idx="12"/>
          </p:nvPr>
        </p:nvSpPr>
        <p:spPr>
          <a:xfrm>
            <a:off x="6457950" y="4767262"/>
            <a:ext cx="2057400" cy="27384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8" name="Google Shape;28;p4"/>
          <p:cNvPicPr preferRelativeResize="0"/>
          <p:nvPr/>
        </p:nvPicPr>
        <p:blipFill rotWithShape="1">
          <a:blip r:embed="rId2">
            <a:alphaModFix/>
          </a:blip>
          <a:srcRect/>
          <a:stretch/>
        </p:blipFill>
        <p:spPr>
          <a:xfrm>
            <a:off x="6610674" y="4638738"/>
            <a:ext cx="2419047" cy="50476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9"/>
        <p:cNvGrpSpPr/>
        <p:nvPr/>
      </p:nvGrpSpPr>
      <p:grpSpPr>
        <a:xfrm>
          <a:off x="0" y="0"/>
          <a:ext cx="0" cy="0"/>
          <a:chOff x="0" y="0"/>
          <a:chExt cx="0" cy="0"/>
        </a:xfrm>
      </p:grpSpPr>
      <p:sp>
        <p:nvSpPr>
          <p:cNvPr id="30" name="Google Shape;30;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2" name="Google Shape;32;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35" name="Google Shape;35;p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42" name="Google Shape;42;p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50" name="Google Shape;5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60" name="Google Shape;60;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68" name="Google Shape;68;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a:spLocks noGrp="1"/>
          </p:cNvSpPr>
          <p:nvPr>
            <p:ph type="pic" idx="2"/>
          </p:nvPr>
        </p:nvSpPr>
        <p:spPr>
          <a:xfrm>
            <a:off x="5183188" y="987425"/>
            <a:ext cx="6172200" cy="4873625"/>
          </a:xfrm>
          <a:prstGeom prst="rect">
            <a:avLst/>
          </a:prstGeom>
          <a:noFill/>
          <a:ln>
            <a:noFill/>
          </a:ln>
        </p:spPr>
      </p:sp>
      <p:sp>
        <p:nvSpPr>
          <p:cNvPr id="72" name="Google Shape;72;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76" name="Google Shape;76;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7"/>
        <p:cNvGrpSpPr/>
        <p:nvPr/>
      </p:nvGrpSpPr>
      <p:grpSpPr>
        <a:xfrm>
          <a:off x="0" y="0"/>
          <a:ext cx="0" cy="0"/>
          <a:chOff x="0" y="0"/>
          <a:chExt cx="0" cy="0"/>
        </a:xfrm>
      </p:grpSpPr>
      <p:sp>
        <p:nvSpPr>
          <p:cNvPr id="78" name="Google Shape;78;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83" name="Google Shape;83;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9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8650" y="273843"/>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28650" y="1369218"/>
            <a:ext cx="7886700" cy="326350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628650" y="4767262"/>
            <a:ext cx="2057400" cy="273843"/>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028950" y="4767262"/>
            <a:ext cx="3086100" cy="273843"/>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457950" y="4767262"/>
            <a:ext cx="2057400" cy="273843"/>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publicprofile/settings?trk=d_flagship3_profile_self_view_public_profil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dippusaidinesh"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p15"/>
          <p:cNvPicPr preferRelativeResize="0"/>
          <p:nvPr/>
        </p:nvPicPr>
        <p:blipFill rotWithShape="1">
          <a:blip r:embed="rId3">
            <a:alphaModFix/>
          </a:blip>
          <a:srcRect/>
          <a:stretch/>
        </p:blipFill>
        <p:spPr>
          <a:xfrm>
            <a:off x="444" y="61463"/>
            <a:ext cx="9143113" cy="5020573"/>
          </a:xfrm>
          <a:prstGeom prst="rect">
            <a:avLst/>
          </a:prstGeom>
          <a:noFill/>
          <a:ln>
            <a:noFill/>
          </a:ln>
        </p:spPr>
      </p:pic>
      <p:sp>
        <p:nvSpPr>
          <p:cNvPr id="97" name="Google Shape;97;p15"/>
          <p:cNvSpPr txBox="1"/>
          <p:nvPr/>
        </p:nvSpPr>
        <p:spPr>
          <a:xfrm>
            <a:off x="1701550" y="2788500"/>
            <a:ext cx="6126300" cy="1550100"/>
          </a:xfrm>
          <a:prstGeom prst="rect">
            <a:avLst/>
          </a:prstGeom>
          <a:noFill/>
          <a:ln>
            <a:noFill/>
          </a:ln>
        </p:spPr>
        <p:txBody>
          <a:bodyPr spcFirstLastPara="1" wrap="square" lIns="68550" tIns="34275" rIns="68550" bIns="34275"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2050" b="1" dirty="0">
                <a:solidFill>
                  <a:srgbClr val="1F1F1F"/>
                </a:solidFill>
                <a:highlight>
                  <a:srgbClr val="F8FAFD"/>
                </a:highlight>
                <a:latin typeface="Roboto"/>
                <a:ea typeface="Roboto"/>
                <a:cs typeface="Roboto"/>
                <a:sym typeface="Roboto"/>
              </a:rPr>
              <a:t>          Energy Consumption Analysis</a:t>
            </a:r>
            <a:endParaRPr sz="2050" b="1" dirty="0">
              <a:solidFill>
                <a:srgbClr val="1F1F1F"/>
              </a:solidFill>
              <a:highlight>
                <a:srgbClr val="F8FAFD"/>
              </a:highlight>
              <a:latin typeface="Roboto"/>
              <a:ea typeface="Roboto"/>
              <a:cs typeface="Roboto"/>
              <a:sym typeface="Roboto"/>
            </a:endParaRPr>
          </a:p>
          <a:p>
            <a:pPr marL="0" lvl="0" indent="0" algn="l" rtl="0">
              <a:spcBef>
                <a:spcPts val="0"/>
              </a:spcBef>
              <a:spcAft>
                <a:spcPts val="0"/>
              </a:spcAft>
              <a:buClr>
                <a:srgbClr val="CBD5E1"/>
              </a:buClr>
              <a:buSzPts val="1400"/>
              <a:buFont typeface="Calibri"/>
              <a:buNone/>
            </a:pPr>
            <a:r>
              <a:rPr lang="en-US" i="1" dirty="0">
                <a:solidFill>
                  <a:schemeClr val="dk1"/>
                </a:solidFill>
                <a:latin typeface="Calibri"/>
                <a:ea typeface="Calibri"/>
                <a:cs typeface="Calibri"/>
                <a:sym typeface="Calibri"/>
              </a:rPr>
              <a:t>     A Relational Database Approach to Global Energy, Economic &amp; Emission Insights</a:t>
            </a:r>
            <a:endParaRPr dirty="0">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endParaRPr sz="2050" b="1" dirty="0">
              <a:solidFill>
                <a:srgbClr val="1F1F1F"/>
              </a:solidFill>
              <a:highlight>
                <a:srgbClr val="F8FAFD"/>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800" b="1" dirty="0">
              <a:solidFill>
                <a:schemeClr val="dk1"/>
              </a:solidFill>
            </a:endParaRPr>
          </a:p>
          <a:p>
            <a:pPr marL="0" marR="0" lvl="0" indent="0" algn="ctr" rtl="0">
              <a:lnSpc>
                <a:spcPct val="100000"/>
              </a:lnSpc>
              <a:spcBef>
                <a:spcPts val="0"/>
              </a:spcBef>
              <a:spcAft>
                <a:spcPts val="0"/>
              </a:spcAft>
              <a:buClr>
                <a:srgbClr val="000000"/>
              </a:buClr>
              <a:buSzPts val="1800"/>
              <a:buFont typeface="Arial"/>
              <a:buNone/>
            </a:pPr>
            <a:endParaRPr sz="2050" b="1" dirty="0">
              <a:solidFill>
                <a:schemeClr val="dk1"/>
              </a:solidFill>
              <a:latin typeface="Calibri"/>
              <a:ea typeface="Calibri"/>
              <a:cs typeface="Calibri"/>
              <a:sym typeface="Calibri"/>
            </a:endParaRPr>
          </a:p>
        </p:txBody>
      </p:sp>
      <p:sp>
        <p:nvSpPr>
          <p:cNvPr id="98" name="Google Shape;98;p15"/>
          <p:cNvSpPr txBox="1"/>
          <p:nvPr/>
        </p:nvSpPr>
        <p:spPr>
          <a:xfrm>
            <a:off x="6510550" y="3502775"/>
            <a:ext cx="60216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a:solidFill>
                  <a:schemeClr val="dk1"/>
                </a:solidFill>
                <a:latin typeface="Roboto"/>
                <a:ea typeface="Roboto"/>
                <a:cs typeface="Roboto"/>
                <a:sym typeface="Roboto"/>
              </a:rPr>
              <a:t>Dippu Sai Dinesh</a:t>
            </a:r>
            <a:endParaRPr sz="1800">
              <a:solidFill>
                <a:schemeClr val="dk1"/>
              </a:solidFill>
              <a:latin typeface="Roboto"/>
              <a:ea typeface="Roboto"/>
              <a:cs typeface="Roboto"/>
              <a:sym typeface="Roboto"/>
            </a:endParaRPr>
          </a:p>
          <a:p>
            <a:pPr marL="0" lvl="0" indent="0" algn="l" rtl="0">
              <a:spcBef>
                <a:spcPts val="0"/>
              </a:spcBef>
              <a:spcAft>
                <a:spcPts val="0"/>
              </a:spcAft>
              <a:buNone/>
            </a:pPr>
            <a:r>
              <a:rPr lang="en-US" sz="1800">
                <a:solidFill>
                  <a:schemeClr val="dk1"/>
                </a:solidFill>
                <a:latin typeface="Roboto"/>
                <a:ea typeface="Roboto"/>
                <a:cs typeface="Roboto"/>
                <a:sym typeface="Roboto"/>
              </a:rPr>
              <a:t>Batch - 484</a:t>
            </a:r>
            <a:endParaRPr sz="1800">
              <a:solidFill>
                <a:schemeClr val="dk1"/>
              </a:solidFill>
              <a:latin typeface="Roboto"/>
              <a:ea typeface="Roboto"/>
              <a:cs typeface="Roboto"/>
              <a:sym typeface="Roboto"/>
            </a:endParaRPr>
          </a:p>
          <a:p>
            <a:pPr marL="0" lvl="0" indent="0" algn="l" rtl="0">
              <a:spcBef>
                <a:spcPts val="0"/>
              </a:spcBef>
              <a:spcAft>
                <a:spcPts val="0"/>
              </a:spcAft>
              <a:buNone/>
            </a:pPr>
            <a:endParaRPr sz="1800">
              <a:solidFill>
                <a:schemeClr val="dk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p:nvPr/>
        </p:nvSpPr>
        <p:spPr>
          <a:xfrm>
            <a:off x="553348" y="974375"/>
            <a:ext cx="6385800" cy="2769959"/>
          </a:xfrm>
          <a:prstGeom prst="rect">
            <a:avLst/>
          </a:prstGeom>
          <a:noFill/>
          <a:ln>
            <a:noFill/>
          </a:ln>
        </p:spPr>
        <p:txBody>
          <a:bodyPr spcFirstLastPara="1" wrap="square" lIns="68550" tIns="34275" rIns="68550" bIns="34275" anchor="t" anchorCtr="0">
            <a:spAutoFit/>
          </a:bodyPr>
          <a:lstStyle/>
          <a:p>
            <a:pPr marL="457200" lvl="0" indent="-311150" algn="l" rtl="0">
              <a:lnSpc>
                <a:spcPct val="150000"/>
              </a:lnSpc>
              <a:spcBef>
                <a:spcPts val="0"/>
              </a:spcBef>
              <a:spcAft>
                <a:spcPts val="0"/>
              </a:spcAft>
              <a:buClr>
                <a:schemeClr val="dk1"/>
              </a:buClr>
              <a:buSzPts val="1300"/>
              <a:buFont typeface="Calibri"/>
              <a:buChar char="•"/>
            </a:pPr>
            <a:r>
              <a:rPr lang="en-US" sz="1300" dirty="0">
                <a:solidFill>
                  <a:schemeClr val="dk1"/>
                </a:solidFill>
                <a:latin typeface="Times New Roman"/>
                <a:ea typeface="Times New Roman"/>
                <a:cs typeface="Times New Roman"/>
                <a:sym typeface="Times New Roman"/>
              </a:rPr>
              <a:t>I am a recent MBA graduate.</a:t>
            </a:r>
            <a:endParaRPr sz="1300" dirty="0">
              <a:solidFill>
                <a:schemeClr val="dk1"/>
              </a:solidFill>
              <a:latin typeface="Times New Roman"/>
              <a:ea typeface="Times New Roman"/>
              <a:cs typeface="Times New Roman"/>
              <a:sym typeface="Times New Roman"/>
            </a:endParaRPr>
          </a:p>
          <a:p>
            <a:pPr marL="457200" lvl="0" indent="-311150" algn="l" rtl="0">
              <a:lnSpc>
                <a:spcPct val="150000"/>
              </a:lnSpc>
              <a:spcBef>
                <a:spcPts val="0"/>
              </a:spcBef>
              <a:spcAft>
                <a:spcPts val="0"/>
              </a:spcAft>
              <a:buClr>
                <a:schemeClr val="dk1"/>
              </a:buClr>
              <a:buSzPts val="1300"/>
              <a:buFont typeface="Calibri"/>
              <a:buChar char="•"/>
            </a:pPr>
            <a:r>
              <a:rPr lang="en-US" sz="1300" dirty="0">
                <a:solidFill>
                  <a:schemeClr val="dk1"/>
                </a:solidFill>
                <a:latin typeface="Times New Roman"/>
                <a:ea typeface="Times New Roman"/>
                <a:cs typeface="Times New Roman"/>
                <a:sym typeface="Times New Roman"/>
              </a:rPr>
              <a:t>I want to be a Data Analyst because I like working with data to solve business problems and support smarter decision-making. My MBA and operations experience helped me understand the importance of data-driven insights.</a:t>
            </a:r>
            <a:endParaRPr sz="1300" dirty="0">
              <a:solidFill>
                <a:schemeClr val="dk1"/>
              </a:solidFill>
              <a:latin typeface="Times New Roman"/>
              <a:ea typeface="Times New Roman"/>
              <a:cs typeface="Times New Roman"/>
              <a:sym typeface="Times New Roman"/>
            </a:endParaRPr>
          </a:p>
          <a:p>
            <a:pPr marL="457200" lvl="0" indent="-311150" algn="l" rtl="0">
              <a:lnSpc>
                <a:spcPct val="150000"/>
              </a:lnSpc>
              <a:spcBef>
                <a:spcPts val="0"/>
              </a:spcBef>
              <a:spcAft>
                <a:spcPts val="0"/>
              </a:spcAft>
              <a:buClr>
                <a:schemeClr val="dk1"/>
              </a:buClr>
              <a:buSzPts val="1300"/>
              <a:buFont typeface="Calibri"/>
              <a:buChar char="•"/>
            </a:pPr>
            <a:r>
              <a:rPr lang="en-US" sz="1300" b="1" dirty="0">
                <a:solidFill>
                  <a:schemeClr val="dk1"/>
                </a:solidFill>
                <a:latin typeface="Times New Roman"/>
                <a:ea typeface="Times New Roman"/>
                <a:cs typeface="Times New Roman"/>
                <a:sym typeface="Times New Roman"/>
              </a:rPr>
              <a:t>LinkedIn :</a:t>
            </a:r>
            <a:r>
              <a:rPr lang="en-US" sz="1300" b="1" dirty="0">
                <a:solidFill>
                  <a:schemeClr val="dk1"/>
                </a:solidFill>
                <a:uFill>
                  <a:noFill/>
                </a:u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 </a:t>
            </a:r>
            <a:r>
              <a:rPr lang="en-US" sz="1300" u="sng" dirty="0">
                <a:solidFill>
                  <a:schemeClr val="hlink"/>
                </a:solidFill>
                <a:latin typeface="Times New Roman"/>
                <a:ea typeface="Times New Roman"/>
                <a:cs typeface="Times New Roman"/>
                <a:sym typeface="Times New Roman"/>
                <a:hlinkClick r:id="rId3"/>
              </a:rPr>
              <a:t>https://www.linkedin.com/publicprofile/settings?trk=d_flagship3_profile_self_view_public_profile</a:t>
            </a:r>
            <a:endParaRPr sz="1300" u="sng" dirty="0">
              <a:solidFill>
                <a:schemeClr val="hlink"/>
              </a:solidFill>
              <a:latin typeface="Times New Roman"/>
              <a:ea typeface="Times New Roman"/>
              <a:cs typeface="Times New Roman"/>
              <a:sym typeface="Times New Roman"/>
            </a:endParaRPr>
          </a:p>
          <a:p>
            <a:pPr marL="457200" lvl="0" indent="-311150">
              <a:lnSpc>
                <a:spcPct val="150000"/>
              </a:lnSpc>
              <a:buClr>
                <a:schemeClr val="dk1"/>
              </a:buClr>
              <a:buSzPts val="1300"/>
              <a:buFont typeface="Calibri"/>
              <a:buChar char="•"/>
            </a:pPr>
            <a:r>
              <a:rPr lang="en-US" sz="1300" b="1" dirty="0" err="1">
                <a:solidFill>
                  <a:schemeClr val="dk1"/>
                </a:solidFill>
                <a:latin typeface="Times New Roman"/>
                <a:ea typeface="Times New Roman"/>
                <a:cs typeface="Times New Roman"/>
                <a:sym typeface="Times New Roman"/>
              </a:rPr>
              <a:t>Github</a:t>
            </a:r>
            <a:r>
              <a:rPr lang="en-US" sz="1300" b="1" dirty="0">
                <a:solidFill>
                  <a:schemeClr val="dk1"/>
                </a:solidFill>
                <a:latin typeface="Times New Roman"/>
                <a:ea typeface="Times New Roman"/>
                <a:cs typeface="Times New Roman"/>
                <a:sym typeface="Times New Roman"/>
              </a:rPr>
              <a:t> : </a:t>
            </a:r>
            <a:r>
              <a:rPr lang="en-US" sz="1300" dirty="0">
                <a:solidFill>
                  <a:schemeClr val="dk1"/>
                </a:solidFill>
                <a:latin typeface="Times New Roman"/>
                <a:ea typeface="Times New Roman"/>
                <a:cs typeface="Times New Roman"/>
                <a:sym typeface="Times New Roman"/>
                <a:hlinkClick r:id="rId4"/>
              </a:rPr>
              <a:t>https://github.com/dippusaidinesh</a:t>
            </a:r>
            <a:endParaRPr sz="1300" dirty="0">
              <a:solidFill>
                <a:schemeClr val="dk1"/>
              </a:solidFill>
              <a:latin typeface="Times New Roman"/>
              <a:ea typeface="Times New Roman"/>
              <a:cs typeface="Times New Roman"/>
              <a:sym typeface="Times New Roman"/>
            </a:endParaRPr>
          </a:p>
          <a:p>
            <a:pPr marL="457200" lvl="0" indent="0" algn="l" rtl="0">
              <a:lnSpc>
                <a:spcPct val="150000"/>
              </a:lnSpc>
              <a:spcBef>
                <a:spcPts val="0"/>
              </a:spcBef>
              <a:spcAft>
                <a:spcPts val="0"/>
              </a:spcAft>
              <a:buNone/>
            </a:pPr>
            <a:endParaRPr sz="1300" b="1" dirty="0">
              <a:solidFill>
                <a:schemeClr val="dk1"/>
              </a:solidFill>
              <a:latin typeface="Calibri"/>
              <a:ea typeface="Calibri"/>
              <a:cs typeface="Calibri"/>
              <a:sym typeface="Calibri"/>
            </a:endParaRPr>
          </a:p>
        </p:txBody>
      </p:sp>
      <p:sp>
        <p:nvSpPr>
          <p:cNvPr id="104" name="Google Shape;104;p16"/>
          <p:cNvSpPr txBox="1"/>
          <p:nvPr/>
        </p:nvSpPr>
        <p:spPr>
          <a:xfrm>
            <a:off x="320742" y="312415"/>
            <a:ext cx="4574700" cy="660375"/>
          </a:xfrm>
          <a:prstGeom prst="rect">
            <a:avLst/>
          </a:prstGeom>
          <a:noFill/>
          <a:ln>
            <a:noFill/>
          </a:ln>
        </p:spPr>
        <p:txBody>
          <a:bodyPr spcFirstLastPara="1" wrap="square" lIns="68550" tIns="34275" rIns="68550" bIns="34275"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US" sz="2400" b="0" i="0" u="none" strike="noStrike" cap="none">
                <a:solidFill>
                  <a:srgbClr val="FF0000"/>
                </a:solidFill>
                <a:latin typeface="Lato Black"/>
                <a:ea typeface="Lato Black"/>
                <a:cs typeface="Lato Black"/>
                <a:sym typeface="Lato Black"/>
              </a:rPr>
              <a:t>About me (Both Team  Leader and Team Member)</a:t>
            </a:r>
            <a:endParaRPr sz="1800" b="0" i="0" u="none" strike="noStrike" cap="none">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fade">
                                      <p:cBhvr>
                                        <p:cTn id="7" dur="5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109"/>
        <p:cNvGrpSpPr/>
        <p:nvPr/>
      </p:nvGrpSpPr>
      <p:grpSpPr>
        <a:xfrm>
          <a:off x="0" y="0"/>
          <a:ext cx="0" cy="0"/>
          <a:chOff x="0" y="0"/>
          <a:chExt cx="0" cy="0"/>
        </a:xfrm>
      </p:grpSpPr>
      <p:sp>
        <p:nvSpPr>
          <p:cNvPr id="110" name="Google Shape;110;p17"/>
          <p:cNvSpPr/>
          <p:nvPr/>
        </p:nvSpPr>
        <p:spPr>
          <a:xfrm>
            <a:off x="0" y="0"/>
            <a:ext cx="9144000" cy="914400"/>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7"/>
          <p:cNvSpPr/>
          <p:nvPr/>
        </p:nvSpPr>
        <p:spPr>
          <a:xfrm>
            <a:off x="457200" y="182880"/>
            <a:ext cx="82296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800"/>
              <a:buFont typeface="Calibri"/>
              <a:buNone/>
            </a:pPr>
            <a:r>
              <a:rPr lang="en-US" sz="2800" b="1">
                <a:solidFill>
                  <a:srgbClr val="FFFFFF"/>
                </a:solidFill>
                <a:latin typeface="Calibri"/>
                <a:ea typeface="Calibri"/>
                <a:cs typeface="Calibri"/>
                <a:sym typeface="Calibri"/>
              </a:rPr>
              <a:t>AGENDA</a:t>
            </a:r>
            <a:endParaRPr sz="2800">
              <a:solidFill>
                <a:schemeClr val="dk1"/>
              </a:solidFill>
              <a:latin typeface="Calibri"/>
              <a:ea typeface="Calibri"/>
              <a:cs typeface="Calibri"/>
              <a:sym typeface="Calibri"/>
            </a:endParaRPr>
          </a:p>
        </p:txBody>
      </p:sp>
      <p:sp>
        <p:nvSpPr>
          <p:cNvPr id="112" name="Google Shape;112;p17"/>
          <p:cNvSpPr/>
          <p:nvPr/>
        </p:nvSpPr>
        <p:spPr>
          <a:xfrm>
            <a:off x="365760" y="1097280"/>
            <a:ext cx="4114800" cy="1051560"/>
          </a:xfrm>
          <a:prstGeom prst="rect">
            <a:avLst/>
          </a:prstGeom>
          <a:solidFill>
            <a:srgbClr val="FFFFFF"/>
          </a:solidFill>
          <a:ln w="12700" cap="flat" cmpd="sng">
            <a:solidFill>
              <a:srgbClr val="CBD5E1"/>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7"/>
          <p:cNvSpPr/>
          <p:nvPr/>
        </p:nvSpPr>
        <p:spPr>
          <a:xfrm>
            <a:off x="365760" y="1097280"/>
            <a:ext cx="502920" cy="1051560"/>
          </a:xfrm>
          <a:prstGeom prst="rect">
            <a:avLst/>
          </a:prstGeom>
          <a:solidFill>
            <a:srgbClr val="0F7B6C"/>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7"/>
          <p:cNvSpPr/>
          <p:nvPr/>
        </p:nvSpPr>
        <p:spPr>
          <a:xfrm>
            <a:off x="365760" y="1389888"/>
            <a:ext cx="502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01</a:t>
            </a:r>
            <a:endParaRPr sz="1600">
              <a:solidFill>
                <a:schemeClr val="dk1"/>
              </a:solidFill>
              <a:latin typeface="Calibri"/>
              <a:ea typeface="Calibri"/>
              <a:cs typeface="Calibri"/>
              <a:sym typeface="Calibri"/>
            </a:endParaRPr>
          </a:p>
        </p:txBody>
      </p:sp>
      <p:sp>
        <p:nvSpPr>
          <p:cNvPr id="115" name="Google Shape;115;p17"/>
          <p:cNvSpPr/>
          <p:nvPr/>
        </p:nvSpPr>
        <p:spPr>
          <a:xfrm>
            <a:off x="960120" y="1207008"/>
            <a:ext cx="34290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4155"/>
              </a:buClr>
              <a:buSzPts val="1300"/>
              <a:buFont typeface="Calibri"/>
              <a:buNone/>
            </a:pPr>
            <a:r>
              <a:rPr lang="en-US" sz="1300" b="1">
                <a:solidFill>
                  <a:srgbClr val="334155"/>
                </a:solidFill>
                <a:latin typeface="Calibri"/>
                <a:ea typeface="Calibri"/>
                <a:cs typeface="Calibri"/>
                <a:sym typeface="Calibri"/>
              </a:rPr>
              <a:t>Business Problem</a:t>
            </a:r>
            <a:endParaRPr sz="1300">
              <a:solidFill>
                <a:schemeClr val="dk1"/>
              </a:solidFill>
              <a:latin typeface="Calibri"/>
              <a:ea typeface="Calibri"/>
              <a:cs typeface="Calibri"/>
              <a:sym typeface="Calibri"/>
            </a:endParaRPr>
          </a:p>
        </p:txBody>
      </p:sp>
      <p:sp>
        <p:nvSpPr>
          <p:cNvPr id="116" name="Google Shape;116;p17"/>
          <p:cNvSpPr/>
          <p:nvPr/>
        </p:nvSpPr>
        <p:spPr>
          <a:xfrm>
            <a:off x="960120" y="1627632"/>
            <a:ext cx="3429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i="1">
                <a:solidFill>
                  <a:srgbClr val="64748B"/>
                </a:solidFill>
                <a:latin typeface="Calibri"/>
                <a:ea typeface="Calibri"/>
                <a:cs typeface="Calibri"/>
                <a:sym typeface="Calibri"/>
              </a:rPr>
              <a:t>Global sustainability challenge</a:t>
            </a:r>
            <a:endParaRPr sz="1000">
              <a:solidFill>
                <a:schemeClr val="dk1"/>
              </a:solidFill>
              <a:latin typeface="Calibri"/>
              <a:ea typeface="Calibri"/>
              <a:cs typeface="Calibri"/>
              <a:sym typeface="Calibri"/>
            </a:endParaRPr>
          </a:p>
        </p:txBody>
      </p:sp>
      <p:sp>
        <p:nvSpPr>
          <p:cNvPr id="117" name="Google Shape;117;p17"/>
          <p:cNvSpPr/>
          <p:nvPr/>
        </p:nvSpPr>
        <p:spPr>
          <a:xfrm>
            <a:off x="365760" y="2331720"/>
            <a:ext cx="4114800" cy="1051560"/>
          </a:xfrm>
          <a:prstGeom prst="rect">
            <a:avLst/>
          </a:prstGeom>
          <a:solidFill>
            <a:srgbClr val="FFFFFF"/>
          </a:solidFill>
          <a:ln w="12700" cap="flat" cmpd="sng">
            <a:solidFill>
              <a:srgbClr val="CBD5E1"/>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7"/>
          <p:cNvSpPr/>
          <p:nvPr/>
        </p:nvSpPr>
        <p:spPr>
          <a:xfrm>
            <a:off x="365760" y="2331720"/>
            <a:ext cx="502920" cy="1051560"/>
          </a:xfrm>
          <a:prstGeom prst="rect">
            <a:avLst/>
          </a:prstGeom>
          <a:solidFill>
            <a:srgbClr val="0F7B6C"/>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7"/>
          <p:cNvSpPr/>
          <p:nvPr/>
        </p:nvSpPr>
        <p:spPr>
          <a:xfrm>
            <a:off x="365760" y="2624328"/>
            <a:ext cx="502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02</a:t>
            </a:r>
            <a:endParaRPr sz="1600">
              <a:solidFill>
                <a:schemeClr val="dk1"/>
              </a:solidFill>
              <a:latin typeface="Calibri"/>
              <a:ea typeface="Calibri"/>
              <a:cs typeface="Calibri"/>
              <a:sym typeface="Calibri"/>
            </a:endParaRPr>
          </a:p>
        </p:txBody>
      </p:sp>
      <p:sp>
        <p:nvSpPr>
          <p:cNvPr id="120" name="Google Shape;120;p17"/>
          <p:cNvSpPr/>
          <p:nvPr/>
        </p:nvSpPr>
        <p:spPr>
          <a:xfrm>
            <a:off x="960120" y="2441448"/>
            <a:ext cx="34290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4155"/>
              </a:buClr>
              <a:buSzPts val="1300"/>
              <a:buFont typeface="Calibri"/>
              <a:buNone/>
            </a:pPr>
            <a:r>
              <a:rPr lang="en-US" sz="1300" b="1">
                <a:solidFill>
                  <a:srgbClr val="334155"/>
                </a:solidFill>
                <a:latin typeface="Calibri"/>
                <a:ea typeface="Calibri"/>
                <a:cs typeface="Calibri"/>
                <a:sym typeface="Calibri"/>
              </a:rPr>
              <a:t>Problem Statement</a:t>
            </a:r>
            <a:endParaRPr sz="1300">
              <a:solidFill>
                <a:schemeClr val="dk1"/>
              </a:solidFill>
              <a:latin typeface="Calibri"/>
              <a:ea typeface="Calibri"/>
              <a:cs typeface="Calibri"/>
              <a:sym typeface="Calibri"/>
            </a:endParaRPr>
          </a:p>
        </p:txBody>
      </p:sp>
      <p:sp>
        <p:nvSpPr>
          <p:cNvPr id="121" name="Google Shape;121;p17"/>
          <p:cNvSpPr/>
          <p:nvPr/>
        </p:nvSpPr>
        <p:spPr>
          <a:xfrm>
            <a:off x="960120" y="2862072"/>
            <a:ext cx="3429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i="1">
                <a:solidFill>
                  <a:srgbClr val="64748B"/>
                </a:solidFill>
                <a:latin typeface="Calibri"/>
                <a:ea typeface="Calibri"/>
                <a:cs typeface="Calibri"/>
                <a:sym typeface="Calibri"/>
              </a:rPr>
              <a:t>Fragmented data &amp; analytical gap</a:t>
            </a:r>
            <a:endParaRPr sz="1000">
              <a:solidFill>
                <a:schemeClr val="dk1"/>
              </a:solidFill>
              <a:latin typeface="Calibri"/>
              <a:ea typeface="Calibri"/>
              <a:cs typeface="Calibri"/>
              <a:sym typeface="Calibri"/>
            </a:endParaRPr>
          </a:p>
        </p:txBody>
      </p:sp>
      <p:sp>
        <p:nvSpPr>
          <p:cNvPr id="122" name="Google Shape;122;p17"/>
          <p:cNvSpPr/>
          <p:nvPr/>
        </p:nvSpPr>
        <p:spPr>
          <a:xfrm>
            <a:off x="365760" y="3566160"/>
            <a:ext cx="4114800" cy="1051560"/>
          </a:xfrm>
          <a:prstGeom prst="rect">
            <a:avLst/>
          </a:prstGeom>
          <a:solidFill>
            <a:srgbClr val="FFFFFF"/>
          </a:solidFill>
          <a:ln w="12700" cap="flat" cmpd="sng">
            <a:solidFill>
              <a:srgbClr val="CBD5E1"/>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p:nvPr/>
        </p:nvSpPr>
        <p:spPr>
          <a:xfrm>
            <a:off x="365760" y="3566160"/>
            <a:ext cx="502920" cy="1051560"/>
          </a:xfrm>
          <a:prstGeom prst="rect">
            <a:avLst/>
          </a:prstGeom>
          <a:solidFill>
            <a:srgbClr val="0F7B6C"/>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7"/>
          <p:cNvSpPr/>
          <p:nvPr/>
        </p:nvSpPr>
        <p:spPr>
          <a:xfrm>
            <a:off x="365760" y="3858768"/>
            <a:ext cx="502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03</a:t>
            </a:r>
            <a:endParaRPr sz="1600">
              <a:solidFill>
                <a:schemeClr val="dk1"/>
              </a:solidFill>
              <a:latin typeface="Calibri"/>
              <a:ea typeface="Calibri"/>
              <a:cs typeface="Calibri"/>
              <a:sym typeface="Calibri"/>
            </a:endParaRPr>
          </a:p>
        </p:txBody>
      </p:sp>
      <p:sp>
        <p:nvSpPr>
          <p:cNvPr id="125" name="Google Shape;125;p17"/>
          <p:cNvSpPr/>
          <p:nvPr/>
        </p:nvSpPr>
        <p:spPr>
          <a:xfrm>
            <a:off x="960120" y="3675888"/>
            <a:ext cx="34290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4155"/>
              </a:buClr>
              <a:buSzPts val="1300"/>
              <a:buFont typeface="Calibri"/>
              <a:buNone/>
            </a:pPr>
            <a:r>
              <a:rPr lang="en-US" sz="1300" b="1">
                <a:solidFill>
                  <a:srgbClr val="334155"/>
                </a:solidFill>
                <a:latin typeface="Calibri"/>
                <a:ea typeface="Calibri"/>
                <a:cs typeface="Calibri"/>
                <a:sym typeface="Calibri"/>
              </a:rPr>
              <a:t>Objectives</a:t>
            </a:r>
            <a:endParaRPr sz="1300">
              <a:solidFill>
                <a:schemeClr val="dk1"/>
              </a:solidFill>
              <a:latin typeface="Calibri"/>
              <a:ea typeface="Calibri"/>
              <a:cs typeface="Calibri"/>
              <a:sym typeface="Calibri"/>
            </a:endParaRPr>
          </a:p>
        </p:txBody>
      </p:sp>
      <p:sp>
        <p:nvSpPr>
          <p:cNvPr id="126" name="Google Shape;126;p17"/>
          <p:cNvSpPr/>
          <p:nvPr/>
        </p:nvSpPr>
        <p:spPr>
          <a:xfrm>
            <a:off x="960120" y="4096512"/>
            <a:ext cx="3429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i="1">
                <a:solidFill>
                  <a:srgbClr val="64748B"/>
                </a:solidFill>
                <a:latin typeface="Calibri"/>
                <a:ea typeface="Calibri"/>
                <a:cs typeface="Calibri"/>
                <a:sym typeface="Calibri"/>
              </a:rPr>
              <a:t>Database architecture &amp; analytics goals</a:t>
            </a:r>
            <a:endParaRPr sz="1000">
              <a:solidFill>
                <a:schemeClr val="dk1"/>
              </a:solidFill>
              <a:latin typeface="Calibri"/>
              <a:ea typeface="Calibri"/>
              <a:cs typeface="Calibri"/>
              <a:sym typeface="Calibri"/>
            </a:endParaRPr>
          </a:p>
        </p:txBody>
      </p:sp>
      <p:sp>
        <p:nvSpPr>
          <p:cNvPr id="127" name="Google Shape;127;p17"/>
          <p:cNvSpPr/>
          <p:nvPr/>
        </p:nvSpPr>
        <p:spPr>
          <a:xfrm>
            <a:off x="4846320" y="1097280"/>
            <a:ext cx="4114800" cy="1051560"/>
          </a:xfrm>
          <a:prstGeom prst="rect">
            <a:avLst/>
          </a:prstGeom>
          <a:solidFill>
            <a:srgbClr val="FFFFFF"/>
          </a:solidFill>
          <a:ln w="12700" cap="flat" cmpd="sng">
            <a:solidFill>
              <a:srgbClr val="CBD5E1"/>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17"/>
          <p:cNvSpPr/>
          <p:nvPr/>
        </p:nvSpPr>
        <p:spPr>
          <a:xfrm>
            <a:off x="4846320" y="1097280"/>
            <a:ext cx="502920" cy="1051560"/>
          </a:xfrm>
          <a:prstGeom prst="rect">
            <a:avLst/>
          </a:prstGeom>
          <a:solidFill>
            <a:srgbClr val="0F7B6C"/>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7"/>
          <p:cNvSpPr/>
          <p:nvPr/>
        </p:nvSpPr>
        <p:spPr>
          <a:xfrm>
            <a:off x="4846320" y="1389888"/>
            <a:ext cx="502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04</a:t>
            </a:r>
            <a:endParaRPr sz="1600">
              <a:solidFill>
                <a:schemeClr val="dk1"/>
              </a:solidFill>
              <a:latin typeface="Calibri"/>
              <a:ea typeface="Calibri"/>
              <a:cs typeface="Calibri"/>
              <a:sym typeface="Calibri"/>
            </a:endParaRPr>
          </a:p>
        </p:txBody>
      </p:sp>
      <p:sp>
        <p:nvSpPr>
          <p:cNvPr id="130" name="Google Shape;130;p17"/>
          <p:cNvSpPr/>
          <p:nvPr/>
        </p:nvSpPr>
        <p:spPr>
          <a:xfrm>
            <a:off x="5440680" y="1207008"/>
            <a:ext cx="34290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4155"/>
              </a:buClr>
              <a:buSzPts val="1300"/>
              <a:buFont typeface="Calibri"/>
              <a:buNone/>
            </a:pPr>
            <a:r>
              <a:rPr lang="en-US" sz="1300" b="1">
                <a:solidFill>
                  <a:srgbClr val="334155"/>
                </a:solidFill>
                <a:latin typeface="Calibri"/>
                <a:ea typeface="Calibri"/>
                <a:cs typeface="Calibri"/>
                <a:sym typeface="Calibri"/>
              </a:rPr>
              <a:t>ER Diagram</a:t>
            </a:r>
            <a:endParaRPr sz="1300">
              <a:solidFill>
                <a:schemeClr val="dk1"/>
              </a:solidFill>
              <a:latin typeface="Calibri"/>
              <a:ea typeface="Calibri"/>
              <a:cs typeface="Calibri"/>
              <a:sym typeface="Calibri"/>
            </a:endParaRPr>
          </a:p>
        </p:txBody>
      </p:sp>
      <p:sp>
        <p:nvSpPr>
          <p:cNvPr id="131" name="Google Shape;131;p17"/>
          <p:cNvSpPr/>
          <p:nvPr/>
        </p:nvSpPr>
        <p:spPr>
          <a:xfrm>
            <a:off x="5440680" y="1627632"/>
            <a:ext cx="3429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i="1">
                <a:solidFill>
                  <a:srgbClr val="64748B"/>
                </a:solidFill>
                <a:latin typeface="Calibri"/>
                <a:ea typeface="Calibri"/>
                <a:cs typeface="Calibri"/>
                <a:sym typeface="Calibri"/>
              </a:rPr>
              <a:t>ENERGYDB relational schema</a:t>
            </a:r>
            <a:endParaRPr sz="1000">
              <a:solidFill>
                <a:schemeClr val="dk1"/>
              </a:solidFill>
              <a:latin typeface="Calibri"/>
              <a:ea typeface="Calibri"/>
              <a:cs typeface="Calibri"/>
              <a:sym typeface="Calibri"/>
            </a:endParaRPr>
          </a:p>
        </p:txBody>
      </p:sp>
      <p:sp>
        <p:nvSpPr>
          <p:cNvPr id="132" name="Google Shape;132;p17"/>
          <p:cNvSpPr/>
          <p:nvPr/>
        </p:nvSpPr>
        <p:spPr>
          <a:xfrm>
            <a:off x="4846320" y="2331720"/>
            <a:ext cx="4114800" cy="1051560"/>
          </a:xfrm>
          <a:prstGeom prst="rect">
            <a:avLst/>
          </a:prstGeom>
          <a:solidFill>
            <a:srgbClr val="FFFFFF"/>
          </a:solidFill>
          <a:ln w="12700" cap="flat" cmpd="sng">
            <a:solidFill>
              <a:srgbClr val="CBD5E1"/>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7"/>
          <p:cNvSpPr/>
          <p:nvPr/>
        </p:nvSpPr>
        <p:spPr>
          <a:xfrm>
            <a:off x="4846320" y="2331720"/>
            <a:ext cx="502920" cy="1051560"/>
          </a:xfrm>
          <a:prstGeom prst="rect">
            <a:avLst/>
          </a:prstGeom>
          <a:solidFill>
            <a:srgbClr val="0F7B6C"/>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17"/>
          <p:cNvSpPr/>
          <p:nvPr/>
        </p:nvSpPr>
        <p:spPr>
          <a:xfrm>
            <a:off x="4846320" y="2624328"/>
            <a:ext cx="502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05</a:t>
            </a:r>
            <a:endParaRPr sz="1600">
              <a:solidFill>
                <a:schemeClr val="dk1"/>
              </a:solidFill>
              <a:latin typeface="Calibri"/>
              <a:ea typeface="Calibri"/>
              <a:cs typeface="Calibri"/>
              <a:sym typeface="Calibri"/>
            </a:endParaRPr>
          </a:p>
        </p:txBody>
      </p:sp>
      <p:sp>
        <p:nvSpPr>
          <p:cNvPr id="135" name="Google Shape;135;p17"/>
          <p:cNvSpPr/>
          <p:nvPr/>
        </p:nvSpPr>
        <p:spPr>
          <a:xfrm>
            <a:off x="5440680" y="2441448"/>
            <a:ext cx="34290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4155"/>
              </a:buClr>
              <a:buSzPts val="1300"/>
              <a:buFont typeface="Calibri"/>
              <a:buNone/>
            </a:pPr>
            <a:r>
              <a:rPr lang="en-US" sz="1300" b="1">
                <a:solidFill>
                  <a:srgbClr val="334155"/>
                </a:solidFill>
                <a:latin typeface="Calibri"/>
                <a:ea typeface="Calibri"/>
                <a:cs typeface="Calibri"/>
                <a:sym typeface="Calibri"/>
              </a:rPr>
              <a:t>SQL Queries &amp; Analysis</a:t>
            </a:r>
            <a:endParaRPr sz="1300">
              <a:solidFill>
                <a:schemeClr val="dk1"/>
              </a:solidFill>
              <a:latin typeface="Calibri"/>
              <a:ea typeface="Calibri"/>
              <a:cs typeface="Calibri"/>
              <a:sym typeface="Calibri"/>
            </a:endParaRPr>
          </a:p>
        </p:txBody>
      </p:sp>
      <p:sp>
        <p:nvSpPr>
          <p:cNvPr id="136" name="Google Shape;136;p17"/>
          <p:cNvSpPr/>
          <p:nvPr/>
        </p:nvSpPr>
        <p:spPr>
          <a:xfrm>
            <a:off x="5440680" y="2862072"/>
            <a:ext cx="3429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i="1">
                <a:solidFill>
                  <a:srgbClr val="64748B"/>
                </a:solidFill>
                <a:latin typeface="Calibri"/>
                <a:ea typeface="Calibri"/>
                <a:cs typeface="Calibri"/>
                <a:sym typeface="Calibri"/>
              </a:rPr>
              <a:t>Trends, ratios, comparisons</a:t>
            </a:r>
            <a:endParaRPr sz="1000">
              <a:solidFill>
                <a:schemeClr val="dk1"/>
              </a:solidFill>
              <a:latin typeface="Calibri"/>
              <a:ea typeface="Calibri"/>
              <a:cs typeface="Calibri"/>
              <a:sym typeface="Calibri"/>
            </a:endParaRPr>
          </a:p>
        </p:txBody>
      </p:sp>
      <p:sp>
        <p:nvSpPr>
          <p:cNvPr id="137" name="Google Shape;137;p17"/>
          <p:cNvSpPr/>
          <p:nvPr/>
        </p:nvSpPr>
        <p:spPr>
          <a:xfrm>
            <a:off x="4846320" y="3566160"/>
            <a:ext cx="4114800" cy="1051560"/>
          </a:xfrm>
          <a:prstGeom prst="rect">
            <a:avLst/>
          </a:prstGeom>
          <a:solidFill>
            <a:srgbClr val="FFFFFF"/>
          </a:solidFill>
          <a:ln w="12700" cap="flat" cmpd="sng">
            <a:solidFill>
              <a:srgbClr val="CBD5E1"/>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7"/>
          <p:cNvSpPr/>
          <p:nvPr/>
        </p:nvSpPr>
        <p:spPr>
          <a:xfrm>
            <a:off x="4846320" y="3566160"/>
            <a:ext cx="502920" cy="1051560"/>
          </a:xfrm>
          <a:prstGeom prst="rect">
            <a:avLst/>
          </a:prstGeom>
          <a:solidFill>
            <a:srgbClr val="0F7B6C"/>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7"/>
          <p:cNvSpPr/>
          <p:nvPr/>
        </p:nvSpPr>
        <p:spPr>
          <a:xfrm>
            <a:off x="4846320" y="3858768"/>
            <a:ext cx="50292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600"/>
              <a:buFont typeface="Calibri"/>
              <a:buNone/>
            </a:pPr>
            <a:r>
              <a:rPr lang="en-US" sz="1600" b="1">
                <a:solidFill>
                  <a:srgbClr val="FFFFFF"/>
                </a:solidFill>
                <a:latin typeface="Calibri"/>
                <a:ea typeface="Calibri"/>
                <a:cs typeface="Calibri"/>
                <a:sym typeface="Calibri"/>
              </a:rPr>
              <a:t>06</a:t>
            </a:r>
            <a:endParaRPr sz="1600">
              <a:solidFill>
                <a:schemeClr val="dk1"/>
              </a:solidFill>
              <a:latin typeface="Calibri"/>
              <a:ea typeface="Calibri"/>
              <a:cs typeface="Calibri"/>
              <a:sym typeface="Calibri"/>
            </a:endParaRPr>
          </a:p>
        </p:txBody>
      </p:sp>
      <p:sp>
        <p:nvSpPr>
          <p:cNvPr id="140" name="Google Shape;140;p17"/>
          <p:cNvSpPr/>
          <p:nvPr/>
        </p:nvSpPr>
        <p:spPr>
          <a:xfrm>
            <a:off x="5440680" y="3675888"/>
            <a:ext cx="3429000" cy="4114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4155"/>
              </a:buClr>
              <a:buSzPts val="1300"/>
              <a:buFont typeface="Calibri"/>
              <a:buNone/>
            </a:pPr>
            <a:r>
              <a:rPr lang="en-US" sz="1300" b="1">
                <a:solidFill>
                  <a:srgbClr val="334155"/>
                </a:solidFill>
                <a:latin typeface="Calibri"/>
                <a:ea typeface="Calibri"/>
                <a:cs typeface="Calibri"/>
                <a:sym typeface="Calibri"/>
              </a:rPr>
              <a:t>Conclusion &amp; Recommendations</a:t>
            </a:r>
            <a:endParaRPr sz="1300">
              <a:solidFill>
                <a:schemeClr val="dk1"/>
              </a:solidFill>
              <a:latin typeface="Calibri"/>
              <a:ea typeface="Calibri"/>
              <a:cs typeface="Calibri"/>
              <a:sym typeface="Calibri"/>
            </a:endParaRPr>
          </a:p>
        </p:txBody>
      </p:sp>
      <p:sp>
        <p:nvSpPr>
          <p:cNvPr id="141" name="Google Shape;141;p17"/>
          <p:cNvSpPr/>
          <p:nvPr/>
        </p:nvSpPr>
        <p:spPr>
          <a:xfrm>
            <a:off x="5440680" y="4096512"/>
            <a:ext cx="342900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4748B"/>
              </a:buClr>
              <a:buSzPts val="1000"/>
              <a:buFont typeface="Calibri"/>
              <a:buNone/>
            </a:pPr>
            <a:r>
              <a:rPr lang="en-US" sz="1000" i="1">
                <a:solidFill>
                  <a:srgbClr val="64748B"/>
                </a:solidFill>
                <a:latin typeface="Calibri"/>
                <a:ea typeface="Calibri"/>
                <a:cs typeface="Calibri"/>
                <a:sym typeface="Calibri"/>
              </a:rPr>
              <a:t>Policy &amp; strategic insights</a:t>
            </a:r>
            <a:endParaRPr sz="1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8"/>
          <p:cNvSpPr/>
          <p:nvPr/>
        </p:nvSpPr>
        <p:spPr>
          <a:xfrm>
            <a:off x="0" y="0"/>
            <a:ext cx="9144000" cy="914400"/>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8"/>
          <p:cNvSpPr/>
          <p:nvPr/>
        </p:nvSpPr>
        <p:spPr>
          <a:xfrm>
            <a:off x="457200" y="182880"/>
            <a:ext cx="7315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Calibri"/>
              <a:buNone/>
            </a:pPr>
            <a:r>
              <a:rPr lang="en-US" sz="2400" b="1">
                <a:solidFill>
                  <a:srgbClr val="FFFFFF"/>
                </a:solidFill>
                <a:latin typeface="Calibri"/>
                <a:ea typeface="Calibri"/>
                <a:cs typeface="Calibri"/>
                <a:sym typeface="Calibri"/>
              </a:rPr>
              <a:t>BUSINESS PROBLEM</a:t>
            </a:r>
            <a:endParaRPr sz="2400">
              <a:solidFill>
                <a:schemeClr val="dk1"/>
              </a:solidFill>
              <a:latin typeface="Calibri"/>
              <a:ea typeface="Calibri"/>
              <a:cs typeface="Calibri"/>
              <a:sym typeface="Calibri"/>
            </a:endParaRPr>
          </a:p>
        </p:txBody>
      </p:sp>
      <p:sp>
        <p:nvSpPr>
          <p:cNvPr id="149" name="Google Shape;149;p18"/>
          <p:cNvSpPr/>
          <p:nvPr/>
        </p:nvSpPr>
        <p:spPr>
          <a:xfrm>
            <a:off x="8046720" y="182880"/>
            <a:ext cx="731520" cy="5486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F7B6C"/>
              </a:buClr>
              <a:buSzPts val="2200"/>
              <a:buFont typeface="Calibri"/>
              <a:buNone/>
            </a:pPr>
            <a:r>
              <a:rPr lang="en-US" sz="2200" b="1">
                <a:solidFill>
                  <a:srgbClr val="0F7B6C"/>
                </a:solidFill>
                <a:latin typeface="Calibri"/>
                <a:ea typeface="Calibri"/>
                <a:cs typeface="Calibri"/>
                <a:sym typeface="Calibri"/>
              </a:rPr>
              <a:t>01</a:t>
            </a:r>
            <a:endParaRPr sz="2200">
              <a:solidFill>
                <a:schemeClr val="dk1"/>
              </a:solidFill>
              <a:latin typeface="Calibri"/>
              <a:ea typeface="Calibri"/>
              <a:cs typeface="Calibri"/>
              <a:sym typeface="Calibri"/>
            </a:endParaRPr>
          </a:p>
        </p:txBody>
      </p:sp>
      <p:sp>
        <p:nvSpPr>
          <p:cNvPr id="150" name="Google Shape;150;p18"/>
          <p:cNvSpPr/>
          <p:nvPr/>
        </p:nvSpPr>
        <p:spPr>
          <a:xfrm>
            <a:off x="365760" y="1051560"/>
            <a:ext cx="2651760" cy="1554480"/>
          </a:xfrm>
          <a:prstGeom prst="rect">
            <a:avLst/>
          </a:prstGeom>
          <a:solidFill>
            <a:srgbClr val="1B2A4A"/>
          </a:solidFill>
          <a:ln w="1905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8"/>
          <p:cNvSpPr/>
          <p:nvPr/>
        </p:nvSpPr>
        <p:spPr>
          <a:xfrm>
            <a:off x="365760" y="1188720"/>
            <a:ext cx="265176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DE9D4"/>
              </a:buClr>
              <a:buSzPts val="4000"/>
              <a:buFont typeface="Calibri"/>
              <a:buNone/>
            </a:pPr>
            <a:r>
              <a:rPr lang="en-US" sz="4000" b="1">
                <a:solidFill>
                  <a:srgbClr val="1DE9D4"/>
                </a:solidFill>
                <a:latin typeface="Calibri"/>
                <a:ea typeface="Calibri"/>
                <a:cs typeface="Calibri"/>
                <a:sym typeface="Calibri"/>
              </a:rPr>
              <a:t>73%</a:t>
            </a:r>
            <a:endParaRPr sz="4000">
              <a:solidFill>
                <a:schemeClr val="dk1"/>
              </a:solidFill>
              <a:latin typeface="Calibri"/>
              <a:ea typeface="Calibri"/>
              <a:cs typeface="Calibri"/>
              <a:sym typeface="Calibri"/>
            </a:endParaRPr>
          </a:p>
        </p:txBody>
      </p:sp>
      <p:sp>
        <p:nvSpPr>
          <p:cNvPr id="152" name="Google Shape;152;p18"/>
          <p:cNvSpPr/>
          <p:nvPr/>
        </p:nvSpPr>
        <p:spPr>
          <a:xfrm>
            <a:off x="365760" y="1828800"/>
            <a:ext cx="265176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of global CO₂ emissions</a:t>
            </a:r>
            <a:endParaRPr sz="1000">
              <a:solidFill>
                <a:schemeClr val="dk1"/>
              </a:solidFill>
              <a:latin typeface="Calibri"/>
              <a:ea typeface="Calibri"/>
              <a:cs typeface="Calibri"/>
              <a:sym typeface="Calibri"/>
            </a:endParaRPr>
          </a:p>
        </p:txBody>
      </p:sp>
      <p:sp>
        <p:nvSpPr>
          <p:cNvPr id="153" name="Google Shape;153;p18"/>
          <p:cNvSpPr/>
          <p:nvPr/>
        </p:nvSpPr>
        <p:spPr>
          <a:xfrm>
            <a:off x="365760" y="2148840"/>
            <a:ext cx="265176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900"/>
              <a:buFont typeface="Calibri"/>
              <a:buNone/>
            </a:pPr>
            <a:r>
              <a:rPr lang="en-US" sz="900" i="1">
                <a:solidFill>
                  <a:srgbClr val="64748B"/>
                </a:solidFill>
                <a:latin typeface="Calibri"/>
                <a:ea typeface="Calibri"/>
                <a:cs typeface="Calibri"/>
                <a:sym typeface="Calibri"/>
              </a:rPr>
              <a:t>linked to energy use</a:t>
            </a:r>
            <a:endParaRPr sz="900">
              <a:solidFill>
                <a:schemeClr val="dk1"/>
              </a:solidFill>
              <a:latin typeface="Calibri"/>
              <a:ea typeface="Calibri"/>
              <a:cs typeface="Calibri"/>
              <a:sym typeface="Calibri"/>
            </a:endParaRPr>
          </a:p>
        </p:txBody>
      </p:sp>
      <p:sp>
        <p:nvSpPr>
          <p:cNvPr id="154" name="Google Shape;154;p18"/>
          <p:cNvSpPr/>
          <p:nvPr/>
        </p:nvSpPr>
        <p:spPr>
          <a:xfrm>
            <a:off x="3246120" y="1051560"/>
            <a:ext cx="2651760" cy="1554480"/>
          </a:xfrm>
          <a:prstGeom prst="rect">
            <a:avLst/>
          </a:prstGeom>
          <a:solidFill>
            <a:srgbClr val="1B2A4A"/>
          </a:solidFill>
          <a:ln w="1905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8"/>
          <p:cNvSpPr/>
          <p:nvPr/>
        </p:nvSpPr>
        <p:spPr>
          <a:xfrm>
            <a:off x="3246120" y="1188720"/>
            <a:ext cx="265176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DE9D4"/>
              </a:buClr>
              <a:buSzPts val="4000"/>
              <a:buFont typeface="Calibri"/>
              <a:buNone/>
            </a:pPr>
            <a:r>
              <a:rPr lang="en-US" sz="4000" b="1">
                <a:solidFill>
                  <a:srgbClr val="1DE9D4"/>
                </a:solidFill>
                <a:latin typeface="Calibri"/>
                <a:ea typeface="Calibri"/>
                <a:cs typeface="Calibri"/>
                <a:sym typeface="Calibri"/>
              </a:rPr>
              <a:t>2x</a:t>
            </a:r>
            <a:endParaRPr sz="4000">
              <a:solidFill>
                <a:schemeClr val="dk1"/>
              </a:solidFill>
              <a:latin typeface="Calibri"/>
              <a:ea typeface="Calibri"/>
              <a:cs typeface="Calibri"/>
              <a:sym typeface="Calibri"/>
            </a:endParaRPr>
          </a:p>
        </p:txBody>
      </p:sp>
      <p:sp>
        <p:nvSpPr>
          <p:cNvPr id="156" name="Google Shape;156;p18"/>
          <p:cNvSpPr/>
          <p:nvPr/>
        </p:nvSpPr>
        <p:spPr>
          <a:xfrm>
            <a:off x="3246120" y="1828800"/>
            <a:ext cx="265176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energy demand expected</a:t>
            </a:r>
            <a:endParaRPr sz="1000">
              <a:solidFill>
                <a:schemeClr val="dk1"/>
              </a:solidFill>
              <a:latin typeface="Calibri"/>
              <a:ea typeface="Calibri"/>
              <a:cs typeface="Calibri"/>
              <a:sym typeface="Calibri"/>
            </a:endParaRPr>
          </a:p>
        </p:txBody>
      </p:sp>
      <p:sp>
        <p:nvSpPr>
          <p:cNvPr id="157" name="Google Shape;157;p18"/>
          <p:cNvSpPr/>
          <p:nvPr/>
        </p:nvSpPr>
        <p:spPr>
          <a:xfrm>
            <a:off x="3246120" y="2148840"/>
            <a:ext cx="265176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900"/>
              <a:buFont typeface="Calibri"/>
              <a:buNone/>
            </a:pPr>
            <a:r>
              <a:rPr lang="en-US" sz="900" i="1">
                <a:solidFill>
                  <a:srgbClr val="64748B"/>
                </a:solidFill>
                <a:latin typeface="Calibri"/>
                <a:ea typeface="Calibri"/>
                <a:cs typeface="Calibri"/>
                <a:sym typeface="Calibri"/>
              </a:rPr>
              <a:t>to double by 2050</a:t>
            </a:r>
            <a:endParaRPr sz="900">
              <a:solidFill>
                <a:schemeClr val="dk1"/>
              </a:solidFill>
              <a:latin typeface="Calibri"/>
              <a:ea typeface="Calibri"/>
              <a:cs typeface="Calibri"/>
              <a:sym typeface="Calibri"/>
            </a:endParaRPr>
          </a:p>
        </p:txBody>
      </p:sp>
      <p:sp>
        <p:nvSpPr>
          <p:cNvPr id="158" name="Google Shape;158;p18"/>
          <p:cNvSpPr/>
          <p:nvPr/>
        </p:nvSpPr>
        <p:spPr>
          <a:xfrm>
            <a:off x="6126480" y="1051560"/>
            <a:ext cx="2651760" cy="1554480"/>
          </a:xfrm>
          <a:prstGeom prst="rect">
            <a:avLst/>
          </a:prstGeom>
          <a:solidFill>
            <a:srgbClr val="1B2A4A"/>
          </a:solidFill>
          <a:ln w="1905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8"/>
          <p:cNvSpPr/>
          <p:nvPr/>
        </p:nvSpPr>
        <p:spPr>
          <a:xfrm>
            <a:off x="6126480" y="1188720"/>
            <a:ext cx="2651760" cy="6400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DE9D4"/>
              </a:buClr>
              <a:buSzPts val="4000"/>
              <a:buFont typeface="Calibri"/>
              <a:buNone/>
            </a:pPr>
            <a:r>
              <a:rPr lang="en-US" sz="4000" b="1">
                <a:solidFill>
                  <a:srgbClr val="1DE9D4"/>
                </a:solidFill>
                <a:latin typeface="Calibri"/>
                <a:ea typeface="Calibri"/>
                <a:cs typeface="Calibri"/>
                <a:sym typeface="Calibri"/>
              </a:rPr>
              <a:t>195</a:t>
            </a:r>
            <a:endParaRPr sz="4000">
              <a:solidFill>
                <a:schemeClr val="dk1"/>
              </a:solidFill>
              <a:latin typeface="Calibri"/>
              <a:ea typeface="Calibri"/>
              <a:cs typeface="Calibri"/>
              <a:sym typeface="Calibri"/>
            </a:endParaRPr>
          </a:p>
        </p:txBody>
      </p:sp>
      <p:sp>
        <p:nvSpPr>
          <p:cNvPr id="160" name="Google Shape;160;p18"/>
          <p:cNvSpPr/>
          <p:nvPr/>
        </p:nvSpPr>
        <p:spPr>
          <a:xfrm>
            <a:off x="6126480" y="1828800"/>
            <a:ext cx="265176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alibri"/>
              <a:buNone/>
            </a:pPr>
            <a:r>
              <a:rPr lang="en-US" sz="1000">
                <a:solidFill>
                  <a:srgbClr val="FFFFFF"/>
                </a:solidFill>
                <a:latin typeface="Calibri"/>
                <a:ea typeface="Calibri"/>
                <a:cs typeface="Calibri"/>
                <a:sym typeface="Calibri"/>
              </a:rPr>
              <a:t>nations generating</a:t>
            </a:r>
            <a:endParaRPr sz="1000">
              <a:solidFill>
                <a:schemeClr val="dk1"/>
              </a:solidFill>
              <a:latin typeface="Calibri"/>
              <a:ea typeface="Calibri"/>
              <a:cs typeface="Calibri"/>
              <a:sym typeface="Calibri"/>
            </a:endParaRPr>
          </a:p>
        </p:txBody>
      </p:sp>
      <p:sp>
        <p:nvSpPr>
          <p:cNvPr id="161" name="Google Shape;161;p18"/>
          <p:cNvSpPr/>
          <p:nvPr/>
        </p:nvSpPr>
        <p:spPr>
          <a:xfrm>
            <a:off x="6126480" y="2148840"/>
            <a:ext cx="2651760" cy="3200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4748B"/>
              </a:buClr>
              <a:buSzPts val="900"/>
              <a:buFont typeface="Calibri"/>
              <a:buNone/>
            </a:pPr>
            <a:r>
              <a:rPr lang="en-US" sz="900" i="1">
                <a:solidFill>
                  <a:srgbClr val="64748B"/>
                </a:solidFill>
                <a:latin typeface="Calibri"/>
                <a:ea typeface="Calibri"/>
                <a:cs typeface="Calibri"/>
                <a:sym typeface="Calibri"/>
              </a:rPr>
              <a:t>fragmented data</a:t>
            </a:r>
            <a:endParaRPr sz="900">
              <a:solidFill>
                <a:schemeClr val="dk1"/>
              </a:solidFill>
              <a:latin typeface="Calibri"/>
              <a:ea typeface="Calibri"/>
              <a:cs typeface="Calibri"/>
              <a:sym typeface="Calibri"/>
            </a:endParaRPr>
          </a:p>
        </p:txBody>
      </p:sp>
      <p:sp>
        <p:nvSpPr>
          <p:cNvPr id="162" name="Google Shape;162;p18"/>
          <p:cNvSpPr/>
          <p:nvPr/>
        </p:nvSpPr>
        <p:spPr>
          <a:xfrm>
            <a:off x="365760" y="2834640"/>
            <a:ext cx="8412480" cy="1920240"/>
          </a:xfrm>
          <a:prstGeom prst="rect">
            <a:avLst/>
          </a:prstGeom>
          <a:solidFill>
            <a:srgbClr val="1B2A4A"/>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3" name="Google Shape;163;p18" descr="preencoded.png"/>
          <p:cNvPicPr preferRelativeResize="0"/>
          <p:nvPr/>
        </p:nvPicPr>
        <p:blipFill rotWithShape="1">
          <a:blip r:embed="rId3">
            <a:alphaModFix/>
          </a:blip>
          <a:srcRect/>
          <a:stretch/>
        </p:blipFill>
        <p:spPr>
          <a:xfrm>
            <a:off x="548640" y="2971800"/>
            <a:ext cx="411480" cy="411480"/>
          </a:xfrm>
          <a:prstGeom prst="rect">
            <a:avLst/>
          </a:prstGeom>
          <a:noFill/>
          <a:ln>
            <a:noFill/>
          </a:ln>
        </p:spPr>
      </p:pic>
      <p:sp>
        <p:nvSpPr>
          <p:cNvPr id="164" name="Google Shape;164;p18"/>
          <p:cNvSpPr/>
          <p:nvPr/>
        </p:nvSpPr>
        <p:spPr>
          <a:xfrm>
            <a:off x="1051560" y="2944368"/>
            <a:ext cx="7132320"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59E0B"/>
              </a:buClr>
              <a:buSzPts val="1300"/>
              <a:buFont typeface="Calibri"/>
              <a:buNone/>
            </a:pPr>
            <a:r>
              <a:rPr lang="en-US" sz="1300" b="1">
                <a:solidFill>
                  <a:srgbClr val="F59E0B"/>
                </a:solidFill>
                <a:latin typeface="Calibri"/>
                <a:ea typeface="Calibri"/>
                <a:cs typeface="Calibri"/>
                <a:sym typeface="Calibri"/>
              </a:rPr>
              <a:t>The Challenge</a:t>
            </a:r>
            <a:endParaRPr sz="1300">
              <a:solidFill>
                <a:schemeClr val="dk1"/>
              </a:solidFill>
              <a:latin typeface="Calibri"/>
              <a:ea typeface="Calibri"/>
              <a:cs typeface="Calibri"/>
              <a:sym typeface="Calibri"/>
            </a:endParaRPr>
          </a:p>
        </p:txBody>
      </p:sp>
      <p:sp>
        <p:nvSpPr>
          <p:cNvPr id="165" name="Google Shape;165;p18"/>
          <p:cNvSpPr/>
          <p:nvPr/>
        </p:nvSpPr>
        <p:spPr>
          <a:xfrm>
            <a:off x="548640" y="3337560"/>
            <a:ext cx="8046720" cy="13258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00"/>
              <a:buFont typeface="Calibri"/>
              <a:buNone/>
            </a:pPr>
            <a:r>
              <a:rPr lang="en-US" sz="1100" dirty="0">
                <a:solidFill>
                  <a:srgbClr val="CBD5E1"/>
                </a:solidFill>
                <a:latin typeface="Calibri"/>
                <a:ea typeface="Calibri"/>
                <a:cs typeface="Calibri"/>
                <a:sym typeface="Calibri"/>
              </a:rPr>
              <a:t>As the world accelerates toward sustainable development and climate change mitigation, governments and researchers face a critical gap: the data required to make informed policy decisions — national GDP, energy production, carbon emissions, and population — exists in silos. Without a unified analytical framework, patterns remain invisible and opportunities for intervention are missed.</a:t>
            </a:r>
            <a:endParaRPr sz="1100" dirty="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170"/>
        <p:cNvGrpSpPr/>
        <p:nvPr/>
      </p:nvGrpSpPr>
      <p:grpSpPr>
        <a:xfrm>
          <a:off x="0" y="0"/>
          <a:ext cx="0" cy="0"/>
          <a:chOff x="0" y="0"/>
          <a:chExt cx="0" cy="0"/>
        </a:xfrm>
      </p:grpSpPr>
      <p:sp>
        <p:nvSpPr>
          <p:cNvPr id="171" name="Google Shape;171;p19"/>
          <p:cNvSpPr/>
          <p:nvPr/>
        </p:nvSpPr>
        <p:spPr>
          <a:xfrm>
            <a:off x="0" y="0"/>
            <a:ext cx="9144000" cy="914400"/>
          </a:xfrm>
          <a:prstGeom prst="rect">
            <a:avLst/>
          </a:prstGeom>
          <a:solidFill>
            <a:srgbClr val="0F7B6C"/>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9"/>
          <p:cNvSpPr/>
          <p:nvPr/>
        </p:nvSpPr>
        <p:spPr>
          <a:xfrm>
            <a:off x="457200" y="182880"/>
            <a:ext cx="77724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Calibri"/>
              <a:buNone/>
            </a:pPr>
            <a:r>
              <a:rPr lang="en-US" sz="2400" b="1">
                <a:solidFill>
                  <a:srgbClr val="FFFFFF"/>
                </a:solidFill>
                <a:latin typeface="Calibri"/>
                <a:ea typeface="Calibri"/>
                <a:cs typeface="Calibri"/>
                <a:sym typeface="Calibri"/>
              </a:rPr>
              <a:t>PROBLEM STATEMENT</a:t>
            </a:r>
            <a:endParaRPr sz="2400">
              <a:solidFill>
                <a:schemeClr val="dk1"/>
              </a:solidFill>
              <a:latin typeface="Calibri"/>
              <a:ea typeface="Calibri"/>
              <a:cs typeface="Calibri"/>
              <a:sym typeface="Calibri"/>
            </a:endParaRPr>
          </a:p>
        </p:txBody>
      </p:sp>
      <p:sp>
        <p:nvSpPr>
          <p:cNvPr id="173" name="Google Shape;173;p19"/>
          <p:cNvSpPr/>
          <p:nvPr/>
        </p:nvSpPr>
        <p:spPr>
          <a:xfrm>
            <a:off x="8046720" y="182880"/>
            <a:ext cx="731520" cy="5486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1B2A"/>
              </a:buClr>
              <a:buSzPts val="2200"/>
              <a:buFont typeface="Calibri"/>
              <a:buNone/>
            </a:pPr>
            <a:r>
              <a:rPr lang="en-US" sz="2200" b="1">
                <a:solidFill>
                  <a:srgbClr val="0D1B2A"/>
                </a:solidFill>
                <a:latin typeface="Calibri"/>
                <a:ea typeface="Calibri"/>
                <a:cs typeface="Calibri"/>
                <a:sym typeface="Calibri"/>
              </a:rPr>
              <a:t>02</a:t>
            </a:r>
            <a:endParaRPr sz="2200">
              <a:solidFill>
                <a:schemeClr val="dk1"/>
              </a:solidFill>
              <a:latin typeface="Calibri"/>
              <a:ea typeface="Calibri"/>
              <a:cs typeface="Calibri"/>
              <a:sym typeface="Calibri"/>
            </a:endParaRPr>
          </a:p>
        </p:txBody>
      </p:sp>
      <p:sp>
        <p:nvSpPr>
          <p:cNvPr id="174" name="Google Shape;174;p19"/>
          <p:cNvSpPr/>
          <p:nvPr/>
        </p:nvSpPr>
        <p:spPr>
          <a:xfrm>
            <a:off x="365760" y="1005840"/>
            <a:ext cx="8412480" cy="2560320"/>
          </a:xfrm>
          <a:prstGeom prst="rect">
            <a:avLst/>
          </a:prstGeom>
          <a:solidFill>
            <a:srgbClr val="0D1B2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19"/>
          <p:cNvSpPr/>
          <p:nvPr/>
        </p:nvSpPr>
        <p:spPr>
          <a:xfrm>
            <a:off x="365760" y="1005840"/>
            <a:ext cx="109728" cy="2560320"/>
          </a:xfrm>
          <a:prstGeom prst="rect">
            <a:avLst/>
          </a:prstGeom>
          <a:solidFill>
            <a:srgbClr val="1DE9D4"/>
          </a:solidFill>
          <a:ln w="12700" cap="flat" cmpd="sng">
            <a:solidFill>
              <a:srgbClr val="1DE9D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9"/>
          <p:cNvSpPr/>
          <p:nvPr/>
        </p:nvSpPr>
        <p:spPr>
          <a:xfrm>
            <a:off x="594360" y="1097280"/>
            <a:ext cx="8046720" cy="23774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150"/>
              <a:buFont typeface="Calibri"/>
              <a:buNone/>
            </a:pPr>
            <a:r>
              <a:rPr lang="en-US" sz="1150" dirty="0">
                <a:solidFill>
                  <a:srgbClr val="CBD5E1"/>
                </a:solidFill>
                <a:latin typeface="Calibri"/>
                <a:ea typeface="Calibri"/>
                <a:cs typeface="Calibri"/>
                <a:sym typeface="Calibri"/>
              </a:rPr>
              <a:t>As the global focus shifts toward sustainable development and climate change mitigation, understanding the complex interplay between a nation's economic growth, population dynamics, and energy consumption is more critical than ever. However, raw data concerning national GDP, energy production, and carbon emissions is often fragmented and difficult to synthesize.</a:t>
            </a:r>
            <a:endParaRPr sz="1150" dirty="0">
              <a:solidFill>
                <a:schemeClr val="dk1"/>
              </a:solidFill>
              <a:latin typeface="Calibri"/>
              <a:ea typeface="Calibri"/>
              <a:cs typeface="Calibri"/>
              <a:sym typeface="Calibri"/>
            </a:endParaRPr>
          </a:p>
          <a:p>
            <a:pPr marL="0" marR="0" lvl="0" indent="0" algn="l" rtl="0">
              <a:spcBef>
                <a:spcPts val="0"/>
              </a:spcBef>
              <a:spcAft>
                <a:spcPts val="0"/>
              </a:spcAft>
              <a:buClr>
                <a:schemeClr val="dk1"/>
              </a:buClr>
              <a:buSzPts val="1150"/>
              <a:buFont typeface="Calibri"/>
              <a:buNone/>
            </a:pPr>
            <a:endParaRPr sz="1150" dirty="0">
              <a:solidFill>
                <a:schemeClr val="dk1"/>
              </a:solidFill>
              <a:latin typeface="Calibri"/>
              <a:ea typeface="Calibri"/>
              <a:cs typeface="Calibri"/>
              <a:sym typeface="Calibri"/>
            </a:endParaRPr>
          </a:p>
          <a:p>
            <a:pPr marL="0" marR="0" lvl="0" indent="0" algn="l" rtl="0">
              <a:spcBef>
                <a:spcPts val="0"/>
              </a:spcBef>
              <a:spcAft>
                <a:spcPts val="0"/>
              </a:spcAft>
              <a:buClr>
                <a:srgbClr val="CBD5E1"/>
              </a:buClr>
              <a:buSzPts val="1150"/>
              <a:buFont typeface="Calibri"/>
              <a:buNone/>
            </a:pPr>
            <a:r>
              <a:rPr lang="en-US" sz="1150" dirty="0">
                <a:solidFill>
                  <a:srgbClr val="CBD5E1"/>
                </a:solidFill>
                <a:latin typeface="Calibri"/>
                <a:ea typeface="Calibri"/>
                <a:cs typeface="Calibri"/>
                <a:sym typeface="Calibri"/>
              </a:rPr>
              <a:t>Without a centralized, relational data architecture, researchers and policymakers struggle to identify historical trends, assess the true per-capita environmental impact of growing populations, or determine whether economic growth is successfully decoupling from carbon emissions. There is a pressing need for a structured analytical framework to transform this fragmented macroeconomic and environmental data into actionable global insights.</a:t>
            </a:r>
            <a:endParaRPr sz="1150" dirty="0">
              <a:solidFill>
                <a:schemeClr val="dk1"/>
              </a:solidFill>
              <a:latin typeface="Calibri"/>
              <a:ea typeface="Calibri"/>
              <a:cs typeface="Calibri"/>
              <a:sym typeface="Calibri"/>
            </a:endParaRPr>
          </a:p>
        </p:txBody>
      </p:sp>
      <p:sp>
        <p:nvSpPr>
          <p:cNvPr id="177" name="Google Shape;177;p19"/>
          <p:cNvSpPr/>
          <p:nvPr/>
        </p:nvSpPr>
        <p:spPr>
          <a:xfrm>
            <a:off x="365760" y="3749040"/>
            <a:ext cx="2651760" cy="1051560"/>
          </a:xfrm>
          <a:prstGeom prst="rect">
            <a:avLst/>
          </a:prstGeom>
          <a:solidFill>
            <a:srgbClr val="FFFFFF"/>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8" name="Google Shape;178;p19" descr="preencoded.png"/>
          <p:cNvPicPr preferRelativeResize="0"/>
          <p:nvPr/>
        </p:nvPicPr>
        <p:blipFill rotWithShape="1">
          <a:blip r:embed="rId3">
            <a:alphaModFix/>
          </a:blip>
          <a:srcRect/>
          <a:stretch/>
        </p:blipFill>
        <p:spPr>
          <a:xfrm>
            <a:off x="475488" y="3840480"/>
            <a:ext cx="347472" cy="347472"/>
          </a:xfrm>
          <a:prstGeom prst="rect">
            <a:avLst/>
          </a:prstGeom>
          <a:noFill/>
          <a:ln>
            <a:noFill/>
          </a:ln>
        </p:spPr>
      </p:pic>
      <p:sp>
        <p:nvSpPr>
          <p:cNvPr id="179" name="Google Shape;179;p19"/>
          <p:cNvSpPr/>
          <p:nvPr/>
        </p:nvSpPr>
        <p:spPr>
          <a:xfrm>
            <a:off x="886968" y="3794760"/>
            <a:ext cx="205740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Fragmented, siloed datasets across nations &amp; years</a:t>
            </a:r>
            <a:endParaRPr sz="950">
              <a:solidFill>
                <a:schemeClr val="dk1"/>
              </a:solidFill>
              <a:latin typeface="Calibri"/>
              <a:ea typeface="Calibri"/>
              <a:cs typeface="Calibri"/>
              <a:sym typeface="Calibri"/>
            </a:endParaRPr>
          </a:p>
        </p:txBody>
      </p:sp>
      <p:sp>
        <p:nvSpPr>
          <p:cNvPr id="180" name="Google Shape;180;p19"/>
          <p:cNvSpPr/>
          <p:nvPr/>
        </p:nvSpPr>
        <p:spPr>
          <a:xfrm>
            <a:off x="3200400" y="3749040"/>
            <a:ext cx="2651760" cy="1051560"/>
          </a:xfrm>
          <a:prstGeom prst="rect">
            <a:avLst/>
          </a:prstGeom>
          <a:solidFill>
            <a:srgbClr val="FFFFFF"/>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1" name="Google Shape;181;p19" descr="preencoded.png"/>
          <p:cNvPicPr preferRelativeResize="0"/>
          <p:nvPr/>
        </p:nvPicPr>
        <p:blipFill rotWithShape="1">
          <a:blip r:embed="rId3">
            <a:alphaModFix/>
          </a:blip>
          <a:srcRect/>
          <a:stretch/>
        </p:blipFill>
        <p:spPr>
          <a:xfrm>
            <a:off x="3310128" y="3840480"/>
            <a:ext cx="347472" cy="347472"/>
          </a:xfrm>
          <a:prstGeom prst="rect">
            <a:avLst/>
          </a:prstGeom>
          <a:noFill/>
          <a:ln>
            <a:noFill/>
          </a:ln>
        </p:spPr>
      </p:pic>
      <p:sp>
        <p:nvSpPr>
          <p:cNvPr id="182" name="Google Shape;182;p19"/>
          <p:cNvSpPr/>
          <p:nvPr/>
        </p:nvSpPr>
        <p:spPr>
          <a:xfrm>
            <a:off x="3721608" y="3794760"/>
            <a:ext cx="205740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No per-capita or GDP-relative emission benchmarks</a:t>
            </a:r>
            <a:endParaRPr sz="950">
              <a:solidFill>
                <a:schemeClr val="dk1"/>
              </a:solidFill>
              <a:latin typeface="Calibri"/>
              <a:ea typeface="Calibri"/>
              <a:cs typeface="Calibri"/>
              <a:sym typeface="Calibri"/>
            </a:endParaRPr>
          </a:p>
        </p:txBody>
      </p:sp>
      <p:sp>
        <p:nvSpPr>
          <p:cNvPr id="183" name="Google Shape;183;p19"/>
          <p:cNvSpPr/>
          <p:nvPr/>
        </p:nvSpPr>
        <p:spPr>
          <a:xfrm>
            <a:off x="6035040" y="3749040"/>
            <a:ext cx="2651760" cy="1051560"/>
          </a:xfrm>
          <a:prstGeom prst="rect">
            <a:avLst/>
          </a:prstGeom>
          <a:solidFill>
            <a:srgbClr val="FFFFFF"/>
          </a:solidFill>
          <a:ln w="12700" cap="flat" cmpd="sng">
            <a:solidFill>
              <a:srgbClr val="CBD5E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4" name="Google Shape;184;p19" descr="preencoded.png"/>
          <p:cNvPicPr preferRelativeResize="0"/>
          <p:nvPr/>
        </p:nvPicPr>
        <p:blipFill rotWithShape="1">
          <a:blip r:embed="rId3">
            <a:alphaModFix/>
          </a:blip>
          <a:srcRect/>
          <a:stretch/>
        </p:blipFill>
        <p:spPr>
          <a:xfrm>
            <a:off x="6144768" y="3840480"/>
            <a:ext cx="347472" cy="347472"/>
          </a:xfrm>
          <a:prstGeom prst="rect">
            <a:avLst/>
          </a:prstGeom>
          <a:noFill/>
          <a:ln>
            <a:noFill/>
          </a:ln>
        </p:spPr>
      </p:pic>
      <p:sp>
        <p:nvSpPr>
          <p:cNvPr id="185" name="Google Shape;185;p19"/>
          <p:cNvSpPr/>
          <p:nvPr/>
        </p:nvSpPr>
        <p:spPr>
          <a:xfrm>
            <a:off x="6556248" y="3794760"/>
            <a:ext cx="2057400" cy="7772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34155"/>
              </a:buClr>
              <a:buSzPts val="950"/>
              <a:buFont typeface="Calibri"/>
              <a:buNone/>
            </a:pPr>
            <a:r>
              <a:rPr lang="en-US" sz="950">
                <a:solidFill>
                  <a:srgbClr val="334155"/>
                </a:solidFill>
                <a:latin typeface="Calibri"/>
                <a:ea typeface="Calibri"/>
                <a:cs typeface="Calibri"/>
                <a:sym typeface="Calibri"/>
              </a:rPr>
              <a:t>Economic growth &amp; carbon decoupling unmeasured</a:t>
            </a:r>
            <a:endParaRPr sz="9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90"/>
        <p:cNvGrpSpPr/>
        <p:nvPr/>
      </p:nvGrpSpPr>
      <p:grpSpPr>
        <a:xfrm>
          <a:off x="0" y="0"/>
          <a:ext cx="0" cy="0"/>
          <a:chOff x="0" y="0"/>
          <a:chExt cx="0" cy="0"/>
        </a:xfrm>
      </p:grpSpPr>
      <p:sp>
        <p:nvSpPr>
          <p:cNvPr id="191" name="Google Shape;191;p20"/>
          <p:cNvSpPr/>
          <p:nvPr/>
        </p:nvSpPr>
        <p:spPr>
          <a:xfrm>
            <a:off x="0" y="0"/>
            <a:ext cx="9144000" cy="914400"/>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0"/>
          <p:cNvSpPr/>
          <p:nvPr/>
        </p:nvSpPr>
        <p:spPr>
          <a:xfrm>
            <a:off x="457200" y="182880"/>
            <a:ext cx="73152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Calibri"/>
              <a:buNone/>
            </a:pPr>
            <a:r>
              <a:rPr lang="en-US" sz="2400" b="1">
                <a:solidFill>
                  <a:srgbClr val="FFFFFF"/>
                </a:solidFill>
                <a:latin typeface="Calibri"/>
                <a:ea typeface="Calibri"/>
                <a:cs typeface="Calibri"/>
                <a:sym typeface="Calibri"/>
              </a:rPr>
              <a:t>PROJECT OBJECTIVES</a:t>
            </a:r>
            <a:endParaRPr sz="2400">
              <a:solidFill>
                <a:schemeClr val="dk1"/>
              </a:solidFill>
              <a:latin typeface="Calibri"/>
              <a:ea typeface="Calibri"/>
              <a:cs typeface="Calibri"/>
              <a:sym typeface="Calibri"/>
            </a:endParaRPr>
          </a:p>
        </p:txBody>
      </p:sp>
      <p:sp>
        <p:nvSpPr>
          <p:cNvPr id="193" name="Google Shape;193;p20"/>
          <p:cNvSpPr/>
          <p:nvPr/>
        </p:nvSpPr>
        <p:spPr>
          <a:xfrm>
            <a:off x="8046720" y="182880"/>
            <a:ext cx="731520" cy="5486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F7B6C"/>
              </a:buClr>
              <a:buSzPts val="2200"/>
              <a:buFont typeface="Calibri"/>
              <a:buNone/>
            </a:pPr>
            <a:r>
              <a:rPr lang="en-US" sz="2200" b="1">
                <a:solidFill>
                  <a:srgbClr val="0F7B6C"/>
                </a:solidFill>
                <a:latin typeface="Calibri"/>
                <a:ea typeface="Calibri"/>
                <a:cs typeface="Calibri"/>
                <a:sym typeface="Calibri"/>
              </a:rPr>
              <a:t>03</a:t>
            </a:r>
            <a:endParaRPr sz="2200">
              <a:solidFill>
                <a:schemeClr val="dk1"/>
              </a:solidFill>
              <a:latin typeface="Calibri"/>
              <a:ea typeface="Calibri"/>
              <a:cs typeface="Calibri"/>
              <a:sym typeface="Calibri"/>
            </a:endParaRPr>
          </a:p>
        </p:txBody>
      </p:sp>
      <p:sp>
        <p:nvSpPr>
          <p:cNvPr id="194" name="Google Shape;194;p20"/>
          <p:cNvSpPr/>
          <p:nvPr/>
        </p:nvSpPr>
        <p:spPr>
          <a:xfrm>
            <a:off x="457200" y="960120"/>
            <a:ext cx="8229600" cy="5943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1200"/>
              <a:buFont typeface="Calibri"/>
              <a:buNone/>
            </a:pPr>
            <a:r>
              <a:rPr lang="en-US" sz="1200" i="1">
                <a:solidFill>
                  <a:schemeClr val="dk2"/>
                </a:solidFill>
                <a:latin typeface="Calibri"/>
                <a:ea typeface="Calibri"/>
                <a:cs typeface="Calibri"/>
                <a:sym typeface="Calibri"/>
              </a:rPr>
              <a:t>Architect a robust relational database (ENERGYDB) to integrate &amp; analyze global energy, economic, and demographic data — uncovering trends in sustainability and resource consumption.</a:t>
            </a:r>
            <a:endParaRPr sz="1200">
              <a:solidFill>
                <a:schemeClr val="dk2"/>
              </a:solidFill>
              <a:latin typeface="Calibri"/>
              <a:ea typeface="Calibri"/>
              <a:cs typeface="Calibri"/>
              <a:sym typeface="Calibri"/>
            </a:endParaRPr>
          </a:p>
        </p:txBody>
      </p:sp>
      <p:sp>
        <p:nvSpPr>
          <p:cNvPr id="195" name="Google Shape;195;p20"/>
          <p:cNvSpPr/>
          <p:nvPr/>
        </p:nvSpPr>
        <p:spPr>
          <a:xfrm>
            <a:off x="365760" y="1691640"/>
            <a:ext cx="4114800" cy="1417320"/>
          </a:xfrm>
          <a:prstGeom prst="rect">
            <a:avLst/>
          </a:prstGeom>
          <a:solidFill>
            <a:srgbClr val="1B2A4A"/>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6" name="Google Shape;196;p20" descr="preencoded.png"/>
          <p:cNvPicPr preferRelativeResize="0"/>
          <p:nvPr/>
        </p:nvPicPr>
        <p:blipFill rotWithShape="1">
          <a:blip r:embed="rId3">
            <a:alphaModFix/>
          </a:blip>
          <a:srcRect/>
          <a:stretch/>
        </p:blipFill>
        <p:spPr>
          <a:xfrm>
            <a:off x="502920" y="2194560"/>
            <a:ext cx="411480" cy="411480"/>
          </a:xfrm>
          <a:prstGeom prst="rect">
            <a:avLst/>
          </a:prstGeom>
          <a:noFill/>
          <a:ln>
            <a:noFill/>
          </a:ln>
        </p:spPr>
      </p:pic>
      <p:sp>
        <p:nvSpPr>
          <p:cNvPr id="197" name="Google Shape;197;p20"/>
          <p:cNvSpPr/>
          <p:nvPr/>
        </p:nvSpPr>
        <p:spPr>
          <a:xfrm>
            <a:off x="1005840" y="1801368"/>
            <a:ext cx="333756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E9D4"/>
              </a:buClr>
              <a:buSzPts val="1200"/>
              <a:buFont typeface="Calibri"/>
              <a:buNone/>
            </a:pPr>
            <a:r>
              <a:rPr lang="en-US" sz="1200" b="1">
                <a:solidFill>
                  <a:srgbClr val="1DE9D4"/>
                </a:solidFill>
                <a:latin typeface="Calibri"/>
                <a:ea typeface="Calibri"/>
                <a:cs typeface="Calibri"/>
                <a:sym typeface="Calibri"/>
              </a:rPr>
              <a:t>Relational Data Architecture</a:t>
            </a:r>
            <a:endParaRPr sz="1200">
              <a:solidFill>
                <a:schemeClr val="dk1"/>
              </a:solidFill>
              <a:latin typeface="Calibri"/>
              <a:ea typeface="Calibri"/>
              <a:cs typeface="Calibri"/>
              <a:sym typeface="Calibri"/>
            </a:endParaRPr>
          </a:p>
        </p:txBody>
      </p:sp>
      <p:sp>
        <p:nvSpPr>
          <p:cNvPr id="198" name="Google Shape;198;p20"/>
          <p:cNvSpPr/>
          <p:nvPr/>
        </p:nvSpPr>
        <p:spPr>
          <a:xfrm>
            <a:off x="1005840" y="2167128"/>
            <a:ext cx="33375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dirty="0">
                <a:solidFill>
                  <a:srgbClr val="CBD5E1"/>
                </a:solidFill>
                <a:latin typeface="Calibri"/>
                <a:ea typeface="Calibri"/>
                <a:cs typeface="Calibri"/>
                <a:sym typeface="Calibri"/>
              </a:rPr>
              <a:t>Fully normalized MySQL schema integrating country, emission, population, production, consumption &amp; GDP tables with referential integrity.</a:t>
            </a:r>
            <a:endParaRPr sz="950" dirty="0">
              <a:solidFill>
                <a:schemeClr val="dk1"/>
              </a:solidFill>
              <a:latin typeface="Calibri"/>
              <a:ea typeface="Calibri"/>
              <a:cs typeface="Calibri"/>
              <a:sym typeface="Calibri"/>
            </a:endParaRPr>
          </a:p>
        </p:txBody>
      </p:sp>
      <p:sp>
        <p:nvSpPr>
          <p:cNvPr id="199" name="Google Shape;199;p20"/>
          <p:cNvSpPr/>
          <p:nvPr/>
        </p:nvSpPr>
        <p:spPr>
          <a:xfrm>
            <a:off x="4846320" y="1691640"/>
            <a:ext cx="4114800" cy="1417320"/>
          </a:xfrm>
          <a:prstGeom prst="rect">
            <a:avLst/>
          </a:prstGeom>
          <a:solidFill>
            <a:srgbClr val="1B2A4A"/>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0" name="Google Shape;200;p20" descr="preencoded.png"/>
          <p:cNvPicPr preferRelativeResize="0"/>
          <p:nvPr/>
        </p:nvPicPr>
        <p:blipFill rotWithShape="1">
          <a:blip r:embed="rId4">
            <a:alphaModFix/>
          </a:blip>
          <a:srcRect/>
          <a:stretch/>
        </p:blipFill>
        <p:spPr>
          <a:xfrm>
            <a:off x="4983480" y="2194560"/>
            <a:ext cx="411480" cy="411480"/>
          </a:xfrm>
          <a:prstGeom prst="rect">
            <a:avLst/>
          </a:prstGeom>
          <a:noFill/>
          <a:ln>
            <a:noFill/>
          </a:ln>
        </p:spPr>
      </p:pic>
      <p:sp>
        <p:nvSpPr>
          <p:cNvPr id="201" name="Google Shape;201;p20"/>
          <p:cNvSpPr/>
          <p:nvPr/>
        </p:nvSpPr>
        <p:spPr>
          <a:xfrm>
            <a:off x="5486400" y="1801368"/>
            <a:ext cx="333756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E9D4"/>
              </a:buClr>
              <a:buSzPts val="1200"/>
              <a:buFont typeface="Calibri"/>
              <a:buNone/>
            </a:pPr>
            <a:r>
              <a:rPr lang="en-US" sz="1200" b="1">
                <a:solidFill>
                  <a:srgbClr val="1DE9D4"/>
                </a:solidFill>
                <a:latin typeface="Calibri"/>
                <a:ea typeface="Calibri"/>
                <a:cs typeface="Calibri"/>
                <a:sym typeface="Calibri"/>
              </a:rPr>
              <a:t>Environmental Impact Analysis</a:t>
            </a:r>
            <a:endParaRPr sz="1200">
              <a:solidFill>
                <a:schemeClr val="dk1"/>
              </a:solidFill>
              <a:latin typeface="Calibri"/>
              <a:ea typeface="Calibri"/>
              <a:cs typeface="Calibri"/>
              <a:sym typeface="Calibri"/>
            </a:endParaRPr>
          </a:p>
        </p:txBody>
      </p:sp>
      <p:sp>
        <p:nvSpPr>
          <p:cNvPr id="202" name="Google Shape;202;p20"/>
          <p:cNvSpPr/>
          <p:nvPr/>
        </p:nvSpPr>
        <p:spPr>
          <a:xfrm>
            <a:off x="5486400" y="2167128"/>
            <a:ext cx="33375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Advanced SQL with CTEs &amp; Window Functions (LAG, OVER) to compute per-capita emissions &amp; decade-over-decade reduction trends.</a:t>
            </a:r>
            <a:endParaRPr sz="950">
              <a:solidFill>
                <a:schemeClr val="dk1"/>
              </a:solidFill>
              <a:latin typeface="Calibri"/>
              <a:ea typeface="Calibri"/>
              <a:cs typeface="Calibri"/>
              <a:sym typeface="Calibri"/>
            </a:endParaRPr>
          </a:p>
        </p:txBody>
      </p:sp>
      <p:sp>
        <p:nvSpPr>
          <p:cNvPr id="203" name="Google Shape;203;p20"/>
          <p:cNvSpPr/>
          <p:nvPr/>
        </p:nvSpPr>
        <p:spPr>
          <a:xfrm>
            <a:off x="365760" y="3291840"/>
            <a:ext cx="4114800" cy="1417320"/>
          </a:xfrm>
          <a:prstGeom prst="rect">
            <a:avLst/>
          </a:prstGeom>
          <a:solidFill>
            <a:srgbClr val="1B2A4A"/>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4" name="Google Shape;204;p20" descr="preencoded.png"/>
          <p:cNvPicPr preferRelativeResize="0"/>
          <p:nvPr/>
        </p:nvPicPr>
        <p:blipFill rotWithShape="1">
          <a:blip r:embed="rId5">
            <a:alphaModFix/>
          </a:blip>
          <a:srcRect/>
          <a:stretch/>
        </p:blipFill>
        <p:spPr>
          <a:xfrm>
            <a:off x="502920" y="3794760"/>
            <a:ext cx="411480" cy="411480"/>
          </a:xfrm>
          <a:prstGeom prst="rect">
            <a:avLst/>
          </a:prstGeom>
          <a:noFill/>
          <a:ln>
            <a:noFill/>
          </a:ln>
        </p:spPr>
      </p:pic>
      <p:sp>
        <p:nvSpPr>
          <p:cNvPr id="205" name="Google Shape;205;p20"/>
          <p:cNvSpPr/>
          <p:nvPr/>
        </p:nvSpPr>
        <p:spPr>
          <a:xfrm>
            <a:off x="1005840" y="3401568"/>
            <a:ext cx="333756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E9D4"/>
              </a:buClr>
              <a:buSzPts val="1200"/>
              <a:buFont typeface="Calibri"/>
              <a:buNone/>
            </a:pPr>
            <a:r>
              <a:rPr lang="en-US" sz="1200" b="1">
                <a:solidFill>
                  <a:srgbClr val="1DE9D4"/>
                </a:solidFill>
                <a:latin typeface="Calibri"/>
                <a:ea typeface="Calibri"/>
                <a:cs typeface="Calibri"/>
                <a:sym typeface="Calibri"/>
              </a:rPr>
              <a:t>Macroeconomic Correlation</a:t>
            </a:r>
            <a:endParaRPr sz="1200">
              <a:solidFill>
                <a:schemeClr val="dk1"/>
              </a:solidFill>
              <a:latin typeface="Calibri"/>
              <a:ea typeface="Calibri"/>
              <a:cs typeface="Calibri"/>
              <a:sym typeface="Calibri"/>
            </a:endParaRPr>
          </a:p>
        </p:txBody>
      </p:sp>
      <p:sp>
        <p:nvSpPr>
          <p:cNvPr id="206" name="Google Shape;206;p20"/>
          <p:cNvSpPr/>
          <p:nvPr/>
        </p:nvSpPr>
        <p:spPr>
          <a:xfrm>
            <a:off x="1005840" y="3767328"/>
            <a:ext cx="33375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Evaluate relationships between GDP, population growth &amp; energy demand; identify nations driving the most significant environmental impact.</a:t>
            </a:r>
            <a:endParaRPr sz="950">
              <a:solidFill>
                <a:schemeClr val="dk1"/>
              </a:solidFill>
              <a:latin typeface="Calibri"/>
              <a:ea typeface="Calibri"/>
              <a:cs typeface="Calibri"/>
              <a:sym typeface="Calibri"/>
            </a:endParaRPr>
          </a:p>
        </p:txBody>
      </p:sp>
      <p:sp>
        <p:nvSpPr>
          <p:cNvPr id="207" name="Google Shape;207;p20"/>
          <p:cNvSpPr/>
          <p:nvPr/>
        </p:nvSpPr>
        <p:spPr>
          <a:xfrm>
            <a:off x="4846320" y="3291840"/>
            <a:ext cx="4114800" cy="1417320"/>
          </a:xfrm>
          <a:prstGeom prst="rect">
            <a:avLst/>
          </a:prstGeom>
          <a:solidFill>
            <a:srgbClr val="1B2A4A"/>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8" name="Google Shape;208;p20" descr="preencoded.png"/>
          <p:cNvPicPr preferRelativeResize="0"/>
          <p:nvPr/>
        </p:nvPicPr>
        <p:blipFill rotWithShape="1">
          <a:blip r:embed="rId6">
            <a:alphaModFix/>
          </a:blip>
          <a:srcRect/>
          <a:stretch/>
        </p:blipFill>
        <p:spPr>
          <a:xfrm>
            <a:off x="4983480" y="3794760"/>
            <a:ext cx="411480" cy="411480"/>
          </a:xfrm>
          <a:prstGeom prst="rect">
            <a:avLst/>
          </a:prstGeom>
          <a:noFill/>
          <a:ln>
            <a:noFill/>
          </a:ln>
        </p:spPr>
      </p:pic>
      <p:sp>
        <p:nvSpPr>
          <p:cNvPr id="209" name="Google Shape;209;p20"/>
          <p:cNvSpPr/>
          <p:nvPr/>
        </p:nvSpPr>
        <p:spPr>
          <a:xfrm>
            <a:off x="5486400" y="3401568"/>
            <a:ext cx="3337560"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E9D4"/>
              </a:buClr>
              <a:buSzPts val="1200"/>
              <a:buFont typeface="Calibri"/>
              <a:buNone/>
            </a:pPr>
            <a:r>
              <a:rPr lang="en-US" sz="1200" b="1">
                <a:solidFill>
                  <a:srgbClr val="1DE9D4"/>
                </a:solidFill>
                <a:latin typeface="Calibri"/>
                <a:ea typeface="Calibri"/>
                <a:cs typeface="Calibri"/>
                <a:sym typeface="Calibri"/>
              </a:rPr>
              <a:t>Data-Driven Policy Insights</a:t>
            </a:r>
            <a:endParaRPr sz="1200">
              <a:solidFill>
                <a:schemeClr val="dk1"/>
              </a:solidFill>
              <a:latin typeface="Calibri"/>
              <a:ea typeface="Calibri"/>
              <a:cs typeface="Calibri"/>
              <a:sym typeface="Calibri"/>
            </a:endParaRPr>
          </a:p>
        </p:txBody>
      </p:sp>
      <p:sp>
        <p:nvSpPr>
          <p:cNvPr id="210" name="Google Shape;210;p20"/>
          <p:cNvSpPr/>
          <p:nvPr/>
        </p:nvSpPr>
        <p:spPr>
          <a:xfrm>
            <a:off x="5486400" y="3767328"/>
            <a:ext cx="3337560" cy="8229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Aggregate historical trends (avg. GDP, emissions &amp; population by year) exportable to BI tools for executive dashboarding &amp; strategic forecasting.</a:t>
            </a:r>
            <a:endParaRPr sz="9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215"/>
        <p:cNvGrpSpPr/>
        <p:nvPr/>
      </p:nvGrpSpPr>
      <p:grpSpPr>
        <a:xfrm>
          <a:off x="0" y="0"/>
          <a:ext cx="0" cy="0"/>
          <a:chOff x="0" y="0"/>
          <a:chExt cx="0" cy="0"/>
        </a:xfrm>
      </p:grpSpPr>
      <p:sp>
        <p:nvSpPr>
          <p:cNvPr id="216" name="Google Shape;216;p21"/>
          <p:cNvSpPr/>
          <p:nvPr/>
        </p:nvSpPr>
        <p:spPr>
          <a:xfrm>
            <a:off x="0" y="0"/>
            <a:ext cx="9144000" cy="914400"/>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1"/>
          <p:cNvSpPr/>
          <p:nvPr/>
        </p:nvSpPr>
        <p:spPr>
          <a:xfrm>
            <a:off x="457200" y="182880"/>
            <a:ext cx="77724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ER DIAGRAM — ENERGYDB SCHEMA</a:t>
            </a:r>
            <a:endParaRPr sz="2200">
              <a:solidFill>
                <a:schemeClr val="dk1"/>
              </a:solidFill>
              <a:latin typeface="Calibri"/>
              <a:ea typeface="Calibri"/>
              <a:cs typeface="Calibri"/>
              <a:sym typeface="Calibri"/>
            </a:endParaRPr>
          </a:p>
        </p:txBody>
      </p:sp>
      <p:sp>
        <p:nvSpPr>
          <p:cNvPr id="218" name="Google Shape;218;p21"/>
          <p:cNvSpPr/>
          <p:nvPr/>
        </p:nvSpPr>
        <p:spPr>
          <a:xfrm>
            <a:off x="8046720" y="182880"/>
            <a:ext cx="731520" cy="5486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1DE9D4"/>
              </a:buClr>
              <a:buSzPts val="2200"/>
              <a:buFont typeface="Calibri"/>
              <a:buNone/>
            </a:pPr>
            <a:endParaRPr sz="2200">
              <a:solidFill>
                <a:schemeClr val="dk1"/>
              </a:solidFill>
              <a:latin typeface="Calibri"/>
              <a:ea typeface="Calibri"/>
              <a:cs typeface="Calibri"/>
              <a:sym typeface="Calibri"/>
            </a:endParaRPr>
          </a:p>
        </p:txBody>
      </p:sp>
      <p:pic>
        <p:nvPicPr>
          <p:cNvPr id="219" name="Google Shape;219;p21"/>
          <p:cNvPicPr preferRelativeResize="0"/>
          <p:nvPr/>
        </p:nvPicPr>
        <p:blipFill>
          <a:blip r:embed="rId3">
            <a:alphaModFix/>
          </a:blip>
          <a:stretch>
            <a:fillRect/>
          </a:stretch>
        </p:blipFill>
        <p:spPr>
          <a:xfrm>
            <a:off x="1376625" y="1019625"/>
            <a:ext cx="6390761" cy="39243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24"/>
        <p:cNvGrpSpPr/>
        <p:nvPr/>
      </p:nvGrpSpPr>
      <p:grpSpPr>
        <a:xfrm>
          <a:off x="0" y="0"/>
          <a:ext cx="0" cy="0"/>
          <a:chOff x="0" y="0"/>
          <a:chExt cx="0" cy="0"/>
        </a:xfrm>
      </p:grpSpPr>
      <p:sp>
        <p:nvSpPr>
          <p:cNvPr id="225" name="Google Shape;225;p22"/>
          <p:cNvSpPr/>
          <p:nvPr/>
        </p:nvSpPr>
        <p:spPr>
          <a:xfrm>
            <a:off x="0" y="0"/>
            <a:ext cx="9144000" cy="914400"/>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2"/>
          <p:cNvSpPr/>
          <p:nvPr/>
        </p:nvSpPr>
        <p:spPr>
          <a:xfrm>
            <a:off x="457200" y="182880"/>
            <a:ext cx="758952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000"/>
              <a:buFont typeface="Calibri"/>
              <a:buNone/>
            </a:pPr>
            <a:r>
              <a:rPr lang="en-US" sz="2000" b="1">
                <a:solidFill>
                  <a:srgbClr val="FFFFFF"/>
                </a:solidFill>
                <a:latin typeface="Calibri"/>
                <a:ea typeface="Calibri"/>
                <a:cs typeface="Calibri"/>
                <a:sym typeface="Calibri"/>
              </a:rPr>
              <a:t>SQL QUERIES — ALL ANALYSIS CATEGORIES</a:t>
            </a:r>
            <a:endParaRPr sz="2000">
              <a:solidFill>
                <a:schemeClr val="dk1"/>
              </a:solidFill>
              <a:latin typeface="Calibri"/>
              <a:ea typeface="Calibri"/>
              <a:cs typeface="Calibri"/>
              <a:sym typeface="Calibri"/>
            </a:endParaRPr>
          </a:p>
        </p:txBody>
      </p:sp>
      <p:sp>
        <p:nvSpPr>
          <p:cNvPr id="227" name="Google Shape;227;p22"/>
          <p:cNvSpPr/>
          <p:nvPr/>
        </p:nvSpPr>
        <p:spPr>
          <a:xfrm>
            <a:off x="8046720" y="182880"/>
            <a:ext cx="731520" cy="5486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F7B6C"/>
              </a:buClr>
              <a:buSzPts val="2200"/>
              <a:buFont typeface="Calibri"/>
              <a:buNone/>
            </a:pPr>
            <a:r>
              <a:rPr lang="en-US" sz="2200" b="1">
                <a:solidFill>
                  <a:srgbClr val="0F7B6C"/>
                </a:solidFill>
                <a:latin typeface="Calibri"/>
                <a:ea typeface="Calibri"/>
                <a:cs typeface="Calibri"/>
                <a:sym typeface="Calibri"/>
              </a:rPr>
              <a:t>05</a:t>
            </a:r>
            <a:endParaRPr sz="2200">
              <a:solidFill>
                <a:schemeClr val="dk1"/>
              </a:solidFill>
              <a:latin typeface="Calibri"/>
              <a:ea typeface="Calibri"/>
              <a:cs typeface="Calibri"/>
              <a:sym typeface="Calibri"/>
            </a:endParaRPr>
          </a:p>
        </p:txBody>
      </p:sp>
      <p:sp>
        <p:nvSpPr>
          <p:cNvPr id="228" name="Google Shape;228;p22"/>
          <p:cNvSpPr/>
          <p:nvPr/>
        </p:nvSpPr>
        <p:spPr>
          <a:xfrm>
            <a:off x="274320" y="1005840"/>
            <a:ext cx="4160520" cy="1828800"/>
          </a:xfrm>
          <a:prstGeom prst="rect">
            <a:avLst/>
          </a:prstGeom>
          <a:solidFill>
            <a:srgbClr val="1B2A4A"/>
          </a:solidFill>
          <a:ln w="1905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2"/>
          <p:cNvSpPr/>
          <p:nvPr/>
        </p:nvSpPr>
        <p:spPr>
          <a:xfrm>
            <a:off x="274320" y="1005840"/>
            <a:ext cx="4160520" cy="347472"/>
          </a:xfrm>
          <a:prstGeom prst="rect">
            <a:avLst/>
          </a:prstGeom>
          <a:solidFill>
            <a:srgbClr val="0F7B6C"/>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2"/>
          <p:cNvSpPr/>
          <p:nvPr/>
        </p:nvSpPr>
        <p:spPr>
          <a:xfrm>
            <a:off x="365760" y="1060704"/>
            <a:ext cx="3977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General &amp; Comparative</a:t>
            </a:r>
            <a:endParaRPr sz="1100">
              <a:solidFill>
                <a:schemeClr val="dk1"/>
              </a:solidFill>
              <a:latin typeface="Calibri"/>
              <a:ea typeface="Calibri"/>
              <a:cs typeface="Calibri"/>
              <a:sym typeface="Calibri"/>
            </a:endParaRPr>
          </a:p>
        </p:txBody>
      </p:sp>
      <p:sp>
        <p:nvSpPr>
          <p:cNvPr id="231" name="Google Shape;231;p22"/>
          <p:cNvSpPr/>
          <p:nvPr/>
        </p:nvSpPr>
        <p:spPr>
          <a:xfrm>
            <a:off x="402336" y="1485900"/>
            <a:ext cx="64008" cy="64008"/>
          </a:xfrm>
          <a:prstGeom prst="ellipse">
            <a:avLst/>
          </a:prstGeom>
          <a:solidFill>
            <a:srgbClr val="0F7B6C"/>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2"/>
          <p:cNvSpPr/>
          <p:nvPr/>
        </p:nvSpPr>
        <p:spPr>
          <a:xfrm>
            <a:off x="521208" y="1399032"/>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Total emissions per country (latest year)</a:t>
            </a:r>
            <a:endParaRPr sz="950">
              <a:solidFill>
                <a:schemeClr val="dk1"/>
              </a:solidFill>
              <a:latin typeface="Calibri"/>
              <a:ea typeface="Calibri"/>
              <a:cs typeface="Calibri"/>
              <a:sym typeface="Calibri"/>
            </a:endParaRPr>
          </a:p>
        </p:txBody>
      </p:sp>
      <p:sp>
        <p:nvSpPr>
          <p:cNvPr id="233" name="Google Shape;233;p22"/>
          <p:cNvSpPr/>
          <p:nvPr/>
        </p:nvSpPr>
        <p:spPr>
          <a:xfrm>
            <a:off x="402336" y="1792224"/>
            <a:ext cx="64008" cy="64008"/>
          </a:xfrm>
          <a:prstGeom prst="ellipse">
            <a:avLst/>
          </a:prstGeom>
          <a:solidFill>
            <a:srgbClr val="0F7B6C"/>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2"/>
          <p:cNvSpPr/>
          <p:nvPr/>
        </p:nvSpPr>
        <p:spPr>
          <a:xfrm>
            <a:off x="521208" y="1705356"/>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Top 5 countries by GDP</a:t>
            </a:r>
            <a:endParaRPr sz="950">
              <a:solidFill>
                <a:schemeClr val="dk1"/>
              </a:solidFill>
              <a:latin typeface="Calibri"/>
              <a:ea typeface="Calibri"/>
              <a:cs typeface="Calibri"/>
              <a:sym typeface="Calibri"/>
            </a:endParaRPr>
          </a:p>
        </p:txBody>
      </p:sp>
      <p:sp>
        <p:nvSpPr>
          <p:cNvPr id="235" name="Google Shape;235;p22"/>
          <p:cNvSpPr/>
          <p:nvPr/>
        </p:nvSpPr>
        <p:spPr>
          <a:xfrm>
            <a:off x="402336" y="2098548"/>
            <a:ext cx="64008" cy="64008"/>
          </a:xfrm>
          <a:prstGeom prst="ellipse">
            <a:avLst/>
          </a:prstGeom>
          <a:solidFill>
            <a:srgbClr val="0F7B6C"/>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22"/>
          <p:cNvSpPr/>
          <p:nvPr/>
        </p:nvSpPr>
        <p:spPr>
          <a:xfrm>
            <a:off x="521208" y="2011680"/>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Energy production vs consumption (net energy)</a:t>
            </a:r>
            <a:endParaRPr sz="950">
              <a:solidFill>
                <a:schemeClr val="dk1"/>
              </a:solidFill>
              <a:latin typeface="Calibri"/>
              <a:ea typeface="Calibri"/>
              <a:cs typeface="Calibri"/>
              <a:sym typeface="Calibri"/>
            </a:endParaRPr>
          </a:p>
        </p:txBody>
      </p:sp>
      <p:sp>
        <p:nvSpPr>
          <p:cNvPr id="237" name="Google Shape;237;p22"/>
          <p:cNvSpPr/>
          <p:nvPr/>
        </p:nvSpPr>
        <p:spPr>
          <a:xfrm>
            <a:off x="402336" y="2404872"/>
            <a:ext cx="64008" cy="64008"/>
          </a:xfrm>
          <a:prstGeom prst="ellipse">
            <a:avLst/>
          </a:prstGeom>
          <a:solidFill>
            <a:srgbClr val="0F7B6C"/>
          </a:solidFill>
          <a:ln w="12700" cap="flat" cmpd="sng">
            <a:solidFill>
              <a:srgbClr val="0F7B6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2"/>
          <p:cNvSpPr/>
          <p:nvPr/>
        </p:nvSpPr>
        <p:spPr>
          <a:xfrm>
            <a:off x="521208" y="2318004"/>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Energy types contributing most to emissions</a:t>
            </a:r>
            <a:endParaRPr sz="950">
              <a:solidFill>
                <a:schemeClr val="dk1"/>
              </a:solidFill>
              <a:latin typeface="Calibri"/>
              <a:ea typeface="Calibri"/>
              <a:cs typeface="Calibri"/>
              <a:sym typeface="Calibri"/>
            </a:endParaRPr>
          </a:p>
        </p:txBody>
      </p:sp>
      <p:sp>
        <p:nvSpPr>
          <p:cNvPr id="239" name="Google Shape;239;p22"/>
          <p:cNvSpPr/>
          <p:nvPr/>
        </p:nvSpPr>
        <p:spPr>
          <a:xfrm>
            <a:off x="4754880" y="1005840"/>
            <a:ext cx="4160520" cy="1828800"/>
          </a:xfrm>
          <a:prstGeom prst="rect">
            <a:avLst/>
          </a:prstGeom>
          <a:solidFill>
            <a:srgbClr val="1B2A4A"/>
          </a:solidFill>
          <a:ln w="1905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2"/>
          <p:cNvSpPr/>
          <p:nvPr/>
        </p:nvSpPr>
        <p:spPr>
          <a:xfrm>
            <a:off x="4754880" y="1005840"/>
            <a:ext cx="4160520" cy="347472"/>
          </a:xfrm>
          <a:prstGeom prst="rect">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2"/>
          <p:cNvSpPr/>
          <p:nvPr/>
        </p:nvSpPr>
        <p:spPr>
          <a:xfrm>
            <a:off x="4846320" y="1060704"/>
            <a:ext cx="3977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Trend Analysis Over Time</a:t>
            </a:r>
            <a:endParaRPr sz="1100">
              <a:solidFill>
                <a:schemeClr val="dk1"/>
              </a:solidFill>
              <a:latin typeface="Calibri"/>
              <a:ea typeface="Calibri"/>
              <a:cs typeface="Calibri"/>
              <a:sym typeface="Calibri"/>
            </a:endParaRPr>
          </a:p>
        </p:txBody>
      </p:sp>
      <p:sp>
        <p:nvSpPr>
          <p:cNvPr id="242" name="Google Shape;242;p22"/>
          <p:cNvSpPr/>
          <p:nvPr/>
        </p:nvSpPr>
        <p:spPr>
          <a:xfrm>
            <a:off x="4882896" y="1485900"/>
            <a:ext cx="64008" cy="64008"/>
          </a:xfrm>
          <a:prstGeom prst="ellipse">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2"/>
          <p:cNvSpPr/>
          <p:nvPr/>
        </p:nvSpPr>
        <p:spPr>
          <a:xfrm>
            <a:off x="5001768" y="1399032"/>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Global emissions year-over-year (LAG window fn)</a:t>
            </a:r>
            <a:endParaRPr sz="950">
              <a:solidFill>
                <a:schemeClr val="dk1"/>
              </a:solidFill>
              <a:latin typeface="Calibri"/>
              <a:ea typeface="Calibri"/>
              <a:cs typeface="Calibri"/>
              <a:sym typeface="Calibri"/>
            </a:endParaRPr>
          </a:p>
        </p:txBody>
      </p:sp>
      <p:sp>
        <p:nvSpPr>
          <p:cNvPr id="244" name="Google Shape;244;p22"/>
          <p:cNvSpPr/>
          <p:nvPr/>
        </p:nvSpPr>
        <p:spPr>
          <a:xfrm>
            <a:off x="4882896" y="1792224"/>
            <a:ext cx="64008" cy="64008"/>
          </a:xfrm>
          <a:prstGeom prst="ellipse">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2"/>
          <p:cNvSpPr/>
          <p:nvPr/>
        </p:nvSpPr>
        <p:spPr>
          <a:xfrm>
            <a:off x="5001768" y="1705356"/>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GDP trend per country over years</a:t>
            </a:r>
            <a:endParaRPr sz="950">
              <a:solidFill>
                <a:schemeClr val="dk1"/>
              </a:solidFill>
              <a:latin typeface="Calibri"/>
              <a:ea typeface="Calibri"/>
              <a:cs typeface="Calibri"/>
              <a:sym typeface="Calibri"/>
            </a:endParaRPr>
          </a:p>
        </p:txBody>
      </p:sp>
      <p:sp>
        <p:nvSpPr>
          <p:cNvPr id="246" name="Google Shape;246;p22"/>
          <p:cNvSpPr/>
          <p:nvPr/>
        </p:nvSpPr>
        <p:spPr>
          <a:xfrm>
            <a:off x="4882896" y="2098548"/>
            <a:ext cx="64008" cy="64008"/>
          </a:xfrm>
          <a:prstGeom prst="ellipse">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2"/>
          <p:cNvSpPr/>
          <p:nvPr/>
        </p:nvSpPr>
        <p:spPr>
          <a:xfrm>
            <a:off x="5001768" y="2011680"/>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Population growth vs. total emissions</a:t>
            </a:r>
            <a:endParaRPr sz="950">
              <a:solidFill>
                <a:schemeClr val="dk1"/>
              </a:solidFill>
              <a:latin typeface="Calibri"/>
              <a:ea typeface="Calibri"/>
              <a:cs typeface="Calibri"/>
              <a:sym typeface="Calibri"/>
            </a:endParaRPr>
          </a:p>
        </p:txBody>
      </p:sp>
      <p:sp>
        <p:nvSpPr>
          <p:cNvPr id="248" name="Google Shape;248;p22"/>
          <p:cNvSpPr/>
          <p:nvPr/>
        </p:nvSpPr>
        <p:spPr>
          <a:xfrm>
            <a:off x="4882896" y="2404872"/>
            <a:ext cx="64008" cy="64008"/>
          </a:xfrm>
          <a:prstGeom prst="ellipse">
            <a:avLst/>
          </a:prstGeom>
          <a:solidFill>
            <a:srgbClr val="7C3AED"/>
          </a:solidFill>
          <a:ln w="12700" cap="flat" cmpd="sng">
            <a:solidFill>
              <a:srgbClr val="7C3AE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2"/>
          <p:cNvSpPr/>
          <p:nvPr/>
        </p:nvSpPr>
        <p:spPr>
          <a:xfrm>
            <a:off x="5001768" y="2318004"/>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Energy consumption change — CTE + LAG</a:t>
            </a:r>
            <a:endParaRPr sz="950">
              <a:solidFill>
                <a:schemeClr val="dk1"/>
              </a:solidFill>
              <a:latin typeface="Calibri"/>
              <a:ea typeface="Calibri"/>
              <a:cs typeface="Calibri"/>
              <a:sym typeface="Calibri"/>
            </a:endParaRPr>
          </a:p>
        </p:txBody>
      </p:sp>
      <p:sp>
        <p:nvSpPr>
          <p:cNvPr id="250" name="Google Shape;250;p22"/>
          <p:cNvSpPr/>
          <p:nvPr/>
        </p:nvSpPr>
        <p:spPr>
          <a:xfrm>
            <a:off x="274320" y="2971800"/>
            <a:ext cx="4160520" cy="1828800"/>
          </a:xfrm>
          <a:prstGeom prst="rect">
            <a:avLst/>
          </a:prstGeom>
          <a:solidFill>
            <a:srgbClr val="1B2A4A"/>
          </a:solidFill>
          <a:ln w="1905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2"/>
          <p:cNvSpPr/>
          <p:nvPr/>
        </p:nvSpPr>
        <p:spPr>
          <a:xfrm>
            <a:off x="274320" y="2971800"/>
            <a:ext cx="4160520" cy="347472"/>
          </a:xfrm>
          <a:prstGeom prst="rect">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2"/>
          <p:cNvSpPr/>
          <p:nvPr/>
        </p:nvSpPr>
        <p:spPr>
          <a:xfrm>
            <a:off x="365760" y="3026664"/>
            <a:ext cx="3977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Ratio &amp; Per Capita</a:t>
            </a:r>
            <a:endParaRPr sz="1100">
              <a:solidFill>
                <a:schemeClr val="dk1"/>
              </a:solidFill>
              <a:latin typeface="Calibri"/>
              <a:ea typeface="Calibri"/>
              <a:cs typeface="Calibri"/>
              <a:sym typeface="Calibri"/>
            </a:endParaRPr>
          </a:p>
        </p:txBody>
      </p:sp>
      <p:sp>
        <p:nvSpPr>
          <p:cNvPr id="253" name="Google Shape;253;p22"/>
          <p:cNvSpPr/>
          <p:nvPr/>
        </p:nvSpPr>
        <p:spPr>
          <a:xfrm>
            <a:off x="402336" y="3451860"/>
            <a:ext cx="64008" cy="64008"/>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2"/>
          <p:cNvSpPr/>
          <p:nvPr/>
        </p:nvSpPr>
        <p:spPr>
          <a:xfrm>
            <a:off x="521208" y="3364992"/>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Emission-to-GDP ratio by country &amp; year</a:t>
            </a:r>
            <a:endParaRPr sz="950">
              <a:solidFill>
                <a:schemeClr val="dk1"/>
              </a:solidFill>
              <a:latin typeface="Calibri"/>
              <a:ea typeface="Calibri"/>
              <a:cs typeface="Calibri"/>
              <a:sym typeface="Calibri"/>
            </a:endParaRPr>
          </a:p>
        </p:txBody>
      </p:sp>
      <p:sp>
        <p:nvSpPr>
          <p:cNvPr id="255" name="Google Shape;255;p22"/>
          <p:cNvSpPr/>
          <p:nvPr/>
        </p:nvSpPr>
        <p:spPr>
          <a:xfrm>
            <a:off x="402336" y="3758184"/>
            <a:ext cx="64008" cy="64008"/>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2"/>
          <p:cNvSpPr/>
          <p:nvPr/>
        </p:nvSpPr>
        <p:spPr>
          <a:xfrm>
            <a:off x="521208" y="3671316"/>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dirty="0">
                <a:solidFill>
                  <a:srgbClr val="CBD5E1"/>
                </a:solidFill>
                <a:latin typeface="Calibri"/>
                <a:ea typeface="Calibri"/>
                <a:cs typeface="Calibri"/>
                <a:sym typeface="Calibri"/>
              </a:rPr>
              <a:t>Energy consumption per capita (last decade)</a:t>
            </a:r>
            <a:endParaRPr sz="950" dirty="0">
              <a:solidFill>
                <a:schemeClr val="dk1"/>
              </a:solidFill>
              <a:latin typeface="Calibri"/>
              <a:ea typeface="Calibri"/>
              <a:cs typeface="Calibri"/>
              <a:sym typeface="Calibri"/>
            </a:endParaRPr>
          </a:p>
        </p:txBody>
      </p:sp>
      <p:sp>
        <p:nvSpPr>
          <p:cNvPr id="257" name="Google Shape;257;p22"/>
          <p:cNvSpPr/>
          <p:nvPr/>
        </p:nvSpPr>
        <p:spPr>
          <a:xfrm>
            <a:off x="402336" y="4064508"/>
            <a:ext cx="64008" cy="64008"/>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2"/>
          <p:cNvSpPr/>
          <p:nvPr/>
        </p:nvSpPr>
        <p:spPr>
          <a:xfrm>
            <a:off x="521208" y="3977640"/>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Energy production per capita across countries</a:t>
            </a:r>
            <a:endParaRPr sz="950">
              <a:solidFill>
                <a:schemeClr val="dk1"/>
              </a:solidFill>
              <a:latin typeface="Calibri"/>
              <a:ea typeface="Calibri"/>
              <a:cs typeface="Calibri"/>
              <a:sym typeface="Calibri"/>
            </a:endParaRPr>
          </a:p>
        </p:txBody>
      </p:sp>
      <p:sp>
        <p:nvSpPr>
          <p:cNvPr id="259" name="Google Shape;259;p22"/>
          <p:cNvSpPr/>
          <p:nvPr/>
        </p:nvSpPr>
        <p:spPr>
          <a:xfrm>
            <a:off x="402336" y="4370832"/>
            <a:ext cx="64008" cy="64008"/>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2"/>
          <p:cNvSpPr/>
          <p:nvPr/>
        </p:nvSpPr>
        <p:spPr>
          <a:xfrm>
            <a:off x="521208" y="4283964"/>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Energy-to-GDP ratio (highest countries)</a:t>
            </a:r>
            <a:endParaRPr sz="950">
              <a:solidFill>
                <a:schemeClr val="dk1"/>
              </a:solidFill>
              <a:latin typeface="Calibri"/>
              <a:ea typeface="Calibri"/>
              <a:cs typeface="Calibri"/>
              <a:sym typeface="Calibri"/>
            </a:endParaRPr>
          </a:p>
        </p:txBody>
      </p:sp>
      <p:sp>
        <p:nvSpPr>
          <p:cNvPr id="261" name="Google Shape;261;p22"/>
          <p:cNvSpPr/>
          <p:nvPr/>
        </p:nvSpPr>
        <p:spPr>
          <a:xfrm>
            <a:off x="402336" y="4677156"/>
            <a:ext cx="64008" cy="64008"/>
          </a:xfrm>
          <a:prstGeom prst="ellipse">
            <a:avLst/>
          </a:prstGeom>
          <a:solidFill>
            <a:srgbClr val="F59E0B"/>
          </a:solidFill>
          <a:ln w="12700" cap="flat" cmpd="sng">
            <a:solidFill>
              <a:srgbClr val="F59E0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2"/>
          <p:cNvSpPr/>
          <p:nvPr/>
        </p:nvSpPr>
        <p:spPr>
          <a:xfrm>
            <a:off x="521208" y="4590288"/>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GDP vs. energy production growth correlation</a:t>
            </a:r>
            <a:endParaRPr sz="950">
              <a:solidFill>
                <a:schemeClr val="dk1"/>
              </a:solidFill>
              <a:latin typeface="Calibri"/>
              <a:ea typeface="Calibri"/>
              <a:cs typeface="Calibri"/>
              <a:sym typeface="Calibri"/>
            </a:endParaRPr>
          </a:p>
        </p:txBody>
      </p:sp>
      <p:sp>
        <p:nvSpPr>
          <p:cNvPr id="263" name="Google Shape;263;p22"/>
          <p:cNvSpPr/>
          <p:nvPr/>
        </p:nvSpPr>
        <p:spPr>
          <a:xfrm>
            <a:off x="4754880" y="2971800"/>
            <a:ext cx="4160520" cy="1828800"/>
          </a:xfrm>
          <a:prstGeom prst="rect">
            <a:avLst/>
          </a:prstGeom>
          <a:solidFill>
            <a:srgbClr val="1B2A4A"/>
          </a:solidFill>
          <a:ln w="19050" cap="flat" cmpd="sng">
            <a:solidFill>
              <a:srgbClr val="EF44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2"/>
          <p:cNvSpPr/>
          <p:nvPr/>
        </p:nvSpPr>
        <p:spPr>
          <a:xfrm>
            <a:off x="4754880" y="2971800"/>
            <a:ext cx="4160520" cy="347472"/>
          </a:xfrm>
          <a:prstGeom prst="rect">
            <a:avLst/>
          </a:prstGeom>
          <a:solidFill>
            <a:srgbClr val="EF4444"/>
          </a:solidFill>
          <a:ln w="12700" cap="flat" cmpd="sng">
            <a:solidFill>
              <a:srgbClr val="EF44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2"/>
          <p:cNvSpPr/>
          <p:nvPr/>
        </p:nvSpPr>
        <p:spPr>
          <a:xfrm>
            <a:off x="4846320" y="3026664"/>
            <a:ext cx="39776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Global Comparisons</a:t>
            </a:r>
            <a:endParaRPr sz="1100">
              <a:solidFill>
                <a:schemeClr val="dk1"/>
              </a:solidFill>
              <a:latin typeface="Calibri"/>
              <a:ea typeface="Calibri"/>
              <a:cs typeface="Calibri"/>
              <a:sym typeface="Calibri"/>
            </a:endParaRPr>
          </a:p>
        </p:txBody>
      </p:sp>
      <p:sp>
        <p:nvSpPr>
          <p:cNvPr id="266" name="Google Shape;266;p22"/>
          <p:cNvSpPr/>
          <p:nvPr/>
        </p:nvSpPr>
        <p:spPr>
          <a:xfrm>
            <a:off x="4882896" y="3451860"/>
            <a:ext cx="64008" cy="64008"/>
          </a:xfrm>
          <a:prstGeom prst="ellipse">
            <a:avLst/>
          </a:prstGeom>
          <a:solidFill>
            <a:srgbClr val="EF4444"/>
          </a:solidFill>
          <a:ln w="12700" cap="flat" cmpd="sng">
            <a:solidFill>
              <a:srgbClr val="EF44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2"/>
          <p:cNvSpPr/>
          <p:nvPr/>
        </p:nvSpPr>
        <p:spPr>
          <a:xfrm>
            <a:off x="5001768" y="3364992"/>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Top 10 countries by population vs emissions</a:t>
            </a:r>
            <a:endParaRPr sz="950">
              <a:solidFill>
                <a:schemeClr val="dk1"/>
              </a:solidFill>
              <a:latin typeface="Calibri"/>
              <a:ea typeface="Calibri"/>
              <a:cs typeface="Calibri"/>
              <a:sym typeface="Calibri"/>
            </a:endParaRPr>
          </a:p>
        </p:txBody>
      </p:sp>
      <p:sp>
        <p:nvSpPr>
          <p:cNvPr id="268" name="Google Shape;268;p22"/>
          <p:cNvSpPr/>
          <p:nvPr/>
        </p:nvSpPr>
        <p:spPr>
          <a:xfrm>
            <a:off x="4882896" y="3758184"/>
            <a:ext cx="64008" cy="64008"/>
          </a:xfrm>
          <a:prstGeom prst="ellipse">
            <a:avLst/>
          </a:prstGeom>
          <a:solidFill>
            <a:srgbClr val="EF4444"/>
          </a:solidFill>
          <a:ln w="12700" cap="flat" cmpd="sng">
            <a:solidFill>
              <a:srgbClr val="EF44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2"/>
          <p:cNvSpPr/>
          <p:nvPr/>
        </p:nvSpPr>
        <p:spPr>
          <a:xfrm>
            <a:off x="5001768" y="3671316"/>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Countries with most improved per-capita emissions</a:t>
            </a:r>
            <a:endParaRPr sz="950">
              <a:solidFill>
                <a:schemeClr val="dk1"/>
              </a:solidFill>
              <a:latin typeface="Calibri"/>
              <a:ea typeface="Calibri"/>
              <a:cs typeface="Calibri"/>
              <a:sym typeface="Calibri"/>
            </a:endParaRPr>
          </a:p>
        </p:txBody>
      </p:sp>
      <p:sp>
        <p:nvSpPr>
          <p:cNvPr id="270" name="Google Shape;270;p22"/>
          <p:cNvSpPr/>
          <p:nvPr/>
        </p:nvSpPr>
        <p:spPr>
          <a:xfrm>
            <a:off x="4882896" y="4064508"/>
            <a:ext cx="64008" cy="64008"/>
          </a:xfrm>
          <a:prstGeom prst="ellipse">
            <a:avLst/>
          </a:prstGeom>
          <a:solidFill>
            <a:srgbClr val="EF4444"/>
          </a:solidFill>
          <a:ln w="12700" cap="flat" cmpd="sng">
            <a:solidFill>
              <a:srgbClr val="EF44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2"/>
          <p:cNvSpPr/>
          <p:nvPr/>
        </p:nvSpPr>
        <p:spPr>
          <a:xfrm>
            <a:off x="5001768" y="3977640"/>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Global share (%) of emissions by country</a:t>
            </a:r>
            <a:endParaRPr sz="950">
              <a:solidFill>
                <a:schemeClr val="dk1"/>
              </a:solidFill>
              <a:latin typeface="Calibri"/>
              <a:ea typeface="Calibri"/>
              <a:cs typeface="Calibri"/>
              <a:sym typeface="Calibri"/>
            </a:endParaRPr>
          </a:p>
        </p:txBody>
      </p:sp>
      <p:sp>
        <p:nvSpPr>
          <p:cNvPr id="272" name="Google Shape;272;p22"/>
          <p:cNvSpPr/>
          <p:nvPr/>
        </p:nvSpPr>
        <p:spPr>
          <a:xfrm>
            <a:off x="4882896" y="4370832"/>
            <a:ext cx="64008" cy="64008"/>
          </a:xfrm>
          <a:prstGeom prst="ellipse">
            <a:avLst/>
          </a:prstGeom>
          <a:solidFill>
            <a:srgbClr val="EF4444"/>
          </a:solidFill>
          <a:ln w="12700" cap="flat" cmpd="sng">
            <a:solidFill>
              <a:srgbClr val="EF444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2"/>
          <p:cNvSpPr/>
          <p:nvPr/>
        </p:nvSpPr>
        <p:spPr>
          <a:xfrm>
            <a:off x="5001768" y="4283964"/>
            <a:ext cx="379476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CBD5E1"/>
              </a:buClr>
              <a:buSzPts val="950"/>
              <a:buFont typeface="Calibri"/>
              <a:buNone/>
            </a:pPr>
            <a:r>
              <a:rPr lang="en-US" sz="950">
                <a:solidFill>
                  <a:srgbClr val="CBD5E1"/>
                </a:solidFill>
                <a:latin typeface="Calibri"/>
                <a:ea typeface="Calibri"/>
                <a:cs typeface="Calibri"/>
                <a:sym typeface="Calibri"/>
              </a:rPr>
              <a:t>Global avg. GDP, emission &amp; population by year</a:t>
            </a:r>
            <a:endParaRPr sz="9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278"/>
        <p:cNvGrpSpPr/>
        <p:nvPr/>
      </p:nvGrpSpPr>
      <p:grpSpPr>
        <a:xfrm>
          <a:off x="0" y="0"/>
          <a:ext cx="0" cy="0"/>
          <a:chOff x="0" y="0"/>
          <a:chExt cx="0" cy="0"/>
        </a:xfrm>
      </p:grpSpPr>
      <p:sp>
        <p:nvSpPr>
          <p:cNvPr id="279" name="Google Shape;279;p23"/>
          <p:cNvSpPr/>
          <p:nvPr/>
        </p:nvSpPr>
        <p:spPr>
          <a:xfrm>
            <a:off x="274325" y="-155633"/>
            <a:ext cx="6858000" cy="594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endParaRPr sz="2200">
              <a:solidFill>
                <a:schemeClr val="dk1"/>
              </a:solidFill>
              <a:latin typeface="Calibri"/>
              <a:ea typeface="Calibri"/>
              <a:cs typeface="Calibri"/>
              <a:sym typeface="Calibri"/>
            </a:endParaRPr>
          </a:p>
        </p:txBody>
      </p:sp>
      <p:sp>
        <p:nvSpPr>
          <p:cNvPr id="280" name="Google Shape;280;p23"/>
          <p:cNvSpPr/>
          <p:nvPr/>
        </p:nvSpPr>
        <p:spPr>
          <a:xfrm>
            <a:off x="7315200" y="164592"/>
            <a:ext cx="1554480" cy="59436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1B2A"/>
              </a:buClr>
              <a:buSzPts val="1800"/>
              <a:buFont typeface="Calibri"/>
              <a:buNone/>
            </a:pPr>
            <a:endParaRPr sz="1800">
              <a:solidFill>
                <a:schemeClr val="dk1"/>
              </a:solidFill>
              <a:latin typeface="Calibri"/>
              <a:ea typeface="Calibri"/>
              <a:cs typeface="Calibri"/>
              <a:sym typeface="Calibri"/>
            </a:endParaRPr>
          </a:p>
        </p:txBody>
      </p:sp>
      <p:sp>
        <p:nvSpPr>
          <p:cNvPr id="281" name="Google Shape;281;p23"/>
          <p:cNvSpPr/>
          <p:nvPr/>
        </p:nvSpPr>
        <p:spPr>
          <a:xfrm>
            <a:off x="712075" y="356650"/>
            <a:ext cx="8289900" cy="402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DE9D4"/>
              </a:buClr>
              <a:buSzPts val="900"/>
              <a:buFont typeface="Calibri"/>
              <a:buNone/>
            </a:pPr>
            <a:r>
              <a:rPr lang="en-US" sz="1100" b="1">
                <a:solidFill>
                  <a:srgbClr val="EF4444"/>
                </a:solidFill>
                <a:latin typeface="Calibri"/>
                <a:ea typeface="Calibri"/>
                <a:cs typeface="Calibri"/>
                <a:sym typeface="Calibri"/>
              </a:rPr>
              <a:t>Global Energy Comparison                                                                                        Output                                           </a:t>
            </a:r>
            <a:endParaRPr sz="1100">
              <a:solidFill>
                <a:srgbClr val="EF4444"/>
              </a:solidFill>
              <a:latin typeface="Calibri"/>
              <a:ea typeface="Calibri"/>
              <a:cs typeface="Calibri"/>
              <a:sym typeface="Calibri"/>
            </a:endParaRPr>
          </a:p>
        </p:txBody>
      </p:sp>
      <p:pic>
        <p:nvPicPr>
          <p:cNvPr id="282" name="Google Shape;282;p23"/>
          <p:cNvPicPr preferRelativeResize="0"/>
          <p:nvPr/>
        </p:nvPicPr>
        <p:blipFill>
          <a:blip r:embed="rId3">
            <a:alphaModFix/>
          </a:blip>
          <a:stretch>
            <a:fillRect/>
          </a:stretch>
        </p:blipFill>
        <p:spPr>
          <a:xfrm>
            <a:off x="4676700" y="905337"/>
            <a:ext cx="3685049" cy="1700777"/>
          </a:xfrm>
          <a:prstGeom prst="rect">
            <a:avLst/>
          </a:prstGeom>
          <a:noFill/>
          <a:ln>
            <a:noFill/>
          </a:ln>
        </p:spPr>
      </p:pic>
      <p:pic>
        <p:nvPicPr>
          <p:cNvPr id="283" name="Google Shape;283;p23"/>
          <p:cNvPicPr preferRelativeResize="0"/>
          <p:nvPr/>
        </p:nvPicPr>
        <p:blipFill>
          <a:blip r:embed="rId4">
            <a:alphaModFix/>
          </a:blip>
          <a:stretch>
            <a:fillRect/>
          </a:stretch>
        </p:blipFill>
        <p:spPr>
          <a:xfrm>
            <a:off x="4676700" y="3010400"/>
            <a:ext cx="3856975" cy="1811575"/>
          </a:xfrm>
          <a:prstGeom prst="rect">
            <a:avLst/>
          </a:prstGeom>
          <a:noFill/>
          <a:ln>
            <a:noFill/>
          </a:ln>
        </p:spPr>
      </p:pic>
      <p:pic>
        <p:nvPicPr>
          <p:cNvPr id="284" name="Google Shape;284;p23"/>
          <p:cNvPicPr preferRelativeResize="0"/>
          <p:nvPr/>
        </p:nvPicPr>
        <p:blipFill>
          <a:blip r:embed="rId5">
            <a:alphaModFix/>
          </a:blip>
          <a:stretch>
            <a:fillRect/>
          </a:stretch>
        </p:blipFill>
        <p:spPr>
          <a:xfrm>
            <a:off x="274325" y="928000"/>
            <a:ext cx="3993350" cy="1600200"/>
          </a:xfrm>
          <a:prstGeom prst="rect">
            <a:avLst/>
          </a:prstGeom>
          <a:noFill/>
          <a:ln>
            <a:noFill/>
          </a:ln>
        </p:spPr>
      </p:pic>
      <p:pic>
        <p:nvPicPr>
          <p:cNvPr id="285" name="Google Shape;285;p23"/>
          <p:cNvPicPr preferRelativeResize="0"/>
          <p:nvPr/>
        </p:nvPicPr>
        <p:blipFill>
          <a:blip r:embed="rId6">
            <a:alphaModFix/>
          </a:blip>
          <a:stretch>
            <a:fillRect/>
          </a:stretch>
        </p:blipFill>
        <p:spPr>
          <a:xfrm>
            <a:off x="274325" y="3261625"/>
            <a:ext cx="3993350" cy="1473100"/>
          </a:xfrm>
          <a:prstGeom prst="rect">
            <a:avLst/>
          </a:prstGeom>
          <a:solidFill>
            <a:srgbClr val="1B2A4A"/>
          </a:solidFill>
          <a:ln w="12700" cap="flat" cmpd="sng">
            <a:solidFill>
              <a:srgbClr val="1B2A4A"/>
            </a:solidFill>
            <a:prstDash val="solid"/>
            <a:round/>
            <a:headEnd type="none" w="sm" len="sm"/>
            <a:tailEnd type="none" w="sm" len="sm"/>
          </a:ln>
        </p:spPr>
      </p:pic>
      <p:sp>
        <p:nvSpPr>
          <p:cNvPr id="286" name="Google Shape;286;p23"/>
          <p:cNvSpPr txBox="1"/>
          <p:nvPr/>
        </p:nvSpPr>
        <p:spPr>
          <a:xfrm>
            <a:off x="208975" y="2697250"/>
            <a:ext cx="84252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b="1">
                <a:solidFill>
                  <a:srgbClr val="EF4444"/>
                </a:solidFill>
                <a:latin typeface="Calibri"/>
                <a:ea typeface="Calibri"/>
                <a:cs typeface="Calibri"/>
                <a:sym typeface="Calibri"/>
              </a:rPr>
              <a:t>           Emission Contribution By Energy Type                                                                        Output</a:t>
            </a:r>
            <a:endParaRPr b="1">
              <a:solidFill>
                <a:srgbClr val="EF4444"/>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291"/>
        <p:cNvGrpSpPr/>
        <p:nvPr/>
      </p:nvGrpSpPr>
      <p:grpSpPr>
        <a:xfrm>
          <a:off x="0" y="0"/>
          <a:ext cx="0" cy="0"/>
          <a:chOff x="0" y="0"/>
          <a:chExt cx="0" cy="0"/>
        </a:xfrm>
      </p:grpSpPr>
      <p:sp>
        <p:nvSpPr>
          <p:cNvPr id="292" name="Google Shape;292;p24"/>
          <p:cNvSpPr/>
          <p:nvPr/>
        </p:nvSpPr>
        <p:spPr>
          <a:xfrm>
            <a:off x="7315200" y="164592"/>
            <a:ext cx="1554600" cy="5943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1B2A"/>
              </a:buClr>
              <a:buSzPts val="1800"/>
              <a:buFont typeface="Calibri"/>
              <a:buNone/>
            </a:pPr>
            <a:endParaRPr sz="1800">
              <a:solidFill>
                <a:schemeClr val="dk1"/>
              </a:solidFill>
              <a:latin typeface="Calibri"/>
              <a:ea typeface="Calibri"/>
              <a:cs typeface="Calibri"/>
              <a:sym typeface="Calibri"/>
            </a:endParaRPr>
          </a:p>
        </p:txBody>
      </p:sp>
      <p:sp>
        <p:nvSpPr>
          <p:cNvPr id="293" name="Google Shape;293;p24"/>
          <p:cNvSpPr/>
          <p:nvPr/>
        </p:nvSpPr>
        <p:spPr>
          <a:xfrm>
            <a:off x="274320" y="3794760"/>
            <a:ext cx="4755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endParaRPr sz="1300">
              <a:solidFill>
                <a:schemeClr val="dk1"/>
              </a:solidFill>
              <a:latin typeface="Calibri"/>
              <a:ea typeface="Calibri"/>
              <a:cs typeface="Calibri"/>
              <a:sym typeface="Calibri"/>
            </a:endParaRPr>
          </a:p>
        </p:txBody>
      </p:sp>
      <p:sp>
        <p:nvSpPr>
          <p:cNvPr id="294" name="Google Shape;294;p24"/>
          <p:cNvSpPr/>
          <p:nvPr/>
        </p:nvSpPr>
        <p:spPr>
          <a:xfrm>
            <a:off x="274325" y="218600"/>
            <a:ext cx="8218200" cy="540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sz="1100" b="1">
                <a:solidFill>
                  <a:srgbClr val="FF0000"/>
                </a:solidFill>
              </a:rPr>
              <a:t>     Year-wise Change in Global Emissions                                                            Output</a:t>
            </a:r>
            <a:endParaRPr sz="1100" b="1">
              <a:solidFill>
                <a:srgbClr val="FF0000"/>
              </a:solidFill>
            </a:endParaRPr>
          </a:p>
          <a:p>
            <a:pPr marL="0" lvl="0" indent="0" algn="l" rtl="0">
              <a:spcBef>
                <a:spcPts val="0"/>
              </a:spcBef>
              <a:spcAft>
                <a:spcPts val="0"/>
              </a:spcAft>
              <a:buClr>
                <a:schemeClr val="dk1"/>
              </a:buClr>
              <a:buSzPts val="1100"/>
              <a:buFont typeface="Arial"/>
              <a:buNone/>
            </a:pPr>
            <a:endParaRPr sz="1100">
              <a:solidFill>
                <a:srgbClr val="FF0000"/>
              </a:solidFill>
            </a:endParaRPr>
          </a:p>
        </p:txBody>
      </p:sp>
      <p:pic>
        <p:nvPicPr>
          <p:cNvPr id="295" name="Google Shape;295;p24"/>
          <p:cNvPicPr preferRelativeResize="0"/>
          <p:nvPr/>
        </p:nvPicPr>
        <p:blipFill>
          <a:blip r:embed="rId3">
            <a:alphaModFix/>
          </a:blip>
          <a:stretch>
            <a:fillRect/>
          </a:stretch>
        </p:blipFill>
        <p:spPr>
          <a:xfrm>
            <a:off x="274325" y="675526"/>
            <a:ext cx="4371975" cy="1517425"/>
          </a:xfrm>
          <a:prstGeom prst="rect">
            <a:avLst/>
          </a:prstGeom>
          <a:noFill/>
          <a:ln>
            <a:noFill/>
          </a:ln>
        </p:spPr>
      </p:pic>
      <p:pic>
        <p:nvPicPr>
          <p:cNvPr id="296" name="Google Shape;296;p24"/>
          <p:cNvPicPr preferRelativeResize="0"/>
          <p:nvPr/>
        </p:nvPicPr>
        <p:blipFill>
          <a:blip r:embed="rId4">
            <a:alphaModFix/>
          </a:blip>
          <a:stretch>
            <a:fillRect/>
          </a:stretch>
        </p:blipFill>
        <p:spPr>
          <a:xfrm>
            <a:off x="5106776" y="675526"/>
            <a:ext cx="3302650" cy="1517425"/>
          </a:xfrm>
          <a:prstGeom prst="rect">
            <a:avLst/>
          </a:prstGeom>
          <a:noFill/>
          <a:ln>
            <a:noFill/>
          </a:ln>
        </p:spPr>
      </p:pic>
      <p:sp>
        <p:nvSpPr>
          <p:cNvPr id="297" name="Google Shape;297;p24"/>
          <p:cNvSpPr txBox="1"/>
          <p:nvPr/>
        </p:nvSpPr>
        <p:spPr>
          <a:xfrm>
            <a:off x="372650" y="2499650"/>
            <a:ext cx="78465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100" b="1">
                <a:solidFill>
                  <a:srgbClr val="EF4444"/>
                </a:solidFill>
              </a:rPr>
              <a:t>GDP Trend Analysis by Country                                                                        Output</a:t>
            </a:r>
            <a:endParaRPr sz="1100" b="1">
              <a:solidFill>
                <a:srgbClr val="EF4444"/>
              </a:solidFill>
            </a:endParaRPr>
          </a:p>
          <a:p>
            <a:pPr marL="0" lvl="0" indent="0" algn="l" rtl="0">
              <a:spcBef>
                <a:spcPts val="0"/>
              </a:spcBef>
              <a:spcAft>
                <a:spcPts val="0"/>
              </a:spcAft>
              <a:buClr>
                <a:schemeClr val="dk1"/>
              </a:buClr>
              <a:buSzPts val="1100"/>
              <a:buFont typeface="Arial"/>
              <a:buNone/>
            </a:pPr>
            <a:r>
              <a:rPr lang="en-US" sz="1100" b="1">
                <a:solidFill>
                  <a:srgbClr val="EF4444"/>
                </a:solidFill>
              </a:rPr>
              <a:t>                                                            </a:t>
            </a:r>
            <a:endParaRPr sz="1100" b="1">
              <a:solidFill>
                <a:srgbClr val="EF4444"/>
              </a:solidFill>
            </a:endParaRPr>
          </a:p>
          <a:p>
            <a:pPr marL="0" lvl="0" indent="0" algn="l" rtl="0">
              <a:spcBef>
                <a:spcPts val="0"/>
              </a:spcBef>
              <a:spcAft>
                <a:spcPts val="0"/>
              </a:spcAft>
              <a:buNone/>
            </a:pPr>
            <a:endParaRPr b="1">
              <a:solidFill>
                <a:srgbClr val="EF4444"/>
              </a:solidFill>
            </a:endParaRPr>
          </a:p>
        </p:txBody>
      </p:sp>
      <p:pic>
        <p:nvPicPr>
          <p:cNvPr id="298" name="Google Shape;298;p24"/>
          <p:cNvPicPr preferRelativeResize="0"/>
          <p:nvPr/>
        </p:nvPicPr>
        <p:blipFill>
          <a:blip r:embed="rId5">
            <a:alphaModFix/>
          </a:blip>
          <a:stretch>
            <a:fillRect/>
          </a:stretch>
        </p:blipFill>
        <p:spPr>
          <a:xfrm>
            <a:off x="372651" y="2894759"/>
            <a:ext cx="4273651" cy="2011505"/>
          </a:xfrm>
          <a:prstGeom prst="rect">
            <a:avLst/>
          </a:prstGeom>
          <a:noFill/>
          <a:ln>
            <a:noFill/>
          </a:ln>
        </p:spPr>
      </p:pic>
      <p:pic>
        <p:nvPicPr>
          <p:cNvPr id="299" name="Google Shape;299;p24"/>
          <p:cNvPicPr preferRelativeResize="0"/>
          <p:nvPr/>
        </p:nvPicPr>
        <p:blipFill>
          <a:blip r:embed="rId6">
            <a:alphaModFix/>
          </a:blip>
          <a:stretch>
            <a:fillRect/>
          </a:stretch>
        </p:blipFill>
        <p:spPr>
          <a:xfrm>
            <a:off x="5106775" y="2916275"/>
            <a:ext cx="3302650" cy="1903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304"/>
        <p:cNvGrpSpPr/>
        <p:nvPr/>
      </p:nvGrpSpPr>
      <p:grpSpPr>
        <a:xfrm>
          <a:off x="0" y="0"/>
          <a:ext cx="0" cy="0"/>
          <a:chOff x="0" y="0"/>
          <a:chExt cx="0" cy="0"/>
        </a:xfrm>
      </p:grpSpPr>
      <p:sp>
        <p:nvSpPr>
          <p:cNvPr id="305" name="Google Shape;305;p25"/>
          <p:cNvSpPr/>
          <p:nvPr/>
        </p:nvSpPr>
        <p:spPr>
          <a:xfrm>
            <a:off x="7315200" y="164592"/>
            <a:ext cx="1554600" cy="5943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1B2A"/>
              </a:buClr>
              <a:buSzPts val="1800"/>
              <a:buFont typeface="Calibri"/>
              <a:buNone/>
            </a:pPr>
            <a:endParaRPr sz="1800">
              <a:solidFill>
                <a:schemeClr val="dk1"/>
              </a:solidFill>
              <a:latin typeface="Calibri"/>
              <a:ea typeface="Calibri"/>
              <a:cs typeface="Calibri"/>
              <a:sym typeface="Calibri"/>
            </a:endParaRPr>
          </a:p>
        </p:txBody>
      </p:sp>
      <p:sp>
        <p:nvSpPr>
          <p:cNvPr id="306" name="Google Shape;306;p25"/>
          <p:cNvSpPr/>
          <p:nvPr/>
        </p:nvSpPr>
        <p:spPr>
          <a:xfrm>
            <a:off x="274320" y="3794760"/>
            <a:ext cx="4755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endParaRPr sz="1300">
              <a:solidFill>
                <a:schemeClr val="dk1"/>
              </a:solidFill>
              <a:latin typeface="Calibri"/>
              <a:ea typeface="Calibri"/>
              <a:cs typeface="Calibri"/>
              <a:sym typeface="Calibri"/>
            </a:endParaRPr>
          </a:p>
        </p:txBody>
      </p:sp>
      <p:sp>
        <p:nvSpPr>
          <p:cNvPr id="307" name="Google Shape;307;p25"/>
          <p:cNvSpPr/>
          <p:nvPr/>
        </p:nvSpPr>
        <p:spPr>
          <a:xfrm>
            <a:off x="274325" y="218600"/>
            <a:ext cx="8218200" cy="540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endParaRPr sz="1100" b="1">
              <a:solidFill>
                <a:schemeClr val="dk1"/>
              </a:solidFill>
            </a:endParaRPr>
          </a:p>
          <a:p>
            <a:pPr marL="0" lvl="0" indent="0" algn="l" rtl="0">
              <a:spcBef>
                <a:spcPts val="0"/>
              </a:spcBef>
              <a:spcAft>
                <a:spcPts val="0"/>
              </a:spcAft>
              <a:buClr>
                <a:schemeClr val="dk1"/>
              </a:buClr>
              <a:buSzPts val="1100"/>
              <a:buFont typeface="Arial"/>
              <a:buNone/>
            </a:pPr>
            <a:r>
              <a:rPr lang="en-US" sz="1100" b="1">
                <a:solidFill>
                  <a:srgbClr val="EF4444"/>
                </a:solidFill>
              </a:rPr>
              <a:t>     Impact of Population Growth on Emissions                                                  Output</a:t>
            </a:r>
            <a:endParaRPr sz="1100" b="1">
              <a:solidFill>
                <a:srgbClr val="EF4444"/>
              </a:solidFill>
            </a:endParaRPr>
          </a:p>
          <a:p>
            <a:pPr marL="0" lvl="0" indent="0" algn="l" rtl="0">
              <a:spcBef>
                <a:spcPts val="0"/>
              </a:spcBef>
              <a:spcAft>
                <a:spcPts val="0"/>
              </a:spcAft>
              <a:buClr>
                <a:schemeClr val="dk1"/>
              </a:buClr>
              <a:buSzPts val="1100"/>
              <a:buFont typeface="Arial"/>
              <a:buNone/>
            </a:pPr>
            <a:endParaRPr sz="1100">
              <a:solidFill>
                <a:srgbClr val="FF0000"/>
              </a:solidFill>
            </a:endParaRPr>
          </a:p>
        </p:txBody>
      </p:sp>
      <p:sp>
        <p:nvSpPr>
          <p:cNvPr id="308" name="Google Shape;308;p25"/>
          <p:cNvSpPr txBox="1"/>
          <p:nvPr/>
        </p:nvSpPr>
        <p:spPr>
          <a:xfrm>
            <a:off x="221750" y="2499650"/>
            <a:ext cx="78465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100" b="1">
                <a:solidFill>
                  <a:srgbClr val="EF4444"/>
                </a:solidFill>
              </a:rPr>
              <a:t>    Energy Consumption Trends in Major Economies                                       Output</a:t>
            </a:r>
            <a:endParaRPr sz="1100" b="1">
              <a:solidFill>
                <a:srgbClr val="EF4444"/>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US" sz="1100" b="1">
                <a:solidFill>
                  <a:srgbClr val="EF4444"/>
                </a:solidFill>
              </a:rPr>
              <a:t>                                                                 </a:t>
            </a:r>
            <a:r>
              <a:rPr lang="en-US" sz="1100">
                <a:solidFill>
                  <a:srgbClr val="EF4444"/>
                </a:solidFill>
              </a:rPr>
              <a:t>                                                            </a:t>
            </a:r>
            <a:endParaRPr sz="1100">
              <a:solidFill>
                <a:srgbClr val="EF4444"/>
              </a:solidFill>
            </a:endParaRPr>
          </a:p>
          <a:p>
            <a:pPr marL="0" lvl="0" indent="0" algn="l" rtl="0">
              <a:spcBef>
                <a:spcPts val="0"/>
              </a:spcBef>
              <a:spcAft>
                <a:spcPts val="0"/>
              </a:spcAft>
              <a:buNone/>
            </a:pPr>
            <a:endParaRPr>
              <a:solidFill>
                <a:srgbClr val="EF4444"/>
              </a:solidFill>
            </a:endParaRPr>
          </a:p>
        </p:txBody>
      </p:sp>
      <p:pic>
        <p:nvPicPr>
          <p:cNvPr id="309" name="Google Shape;309;p25"/>
          <p:cNvPicPr preferRelativeResize="0"/>
          <p:nvPr/>
        </p:nvPicPr>
        <p:blipFill>
          <a:blip r:embed="rId3">
            <a:alphaModFix/>
          </a:blip>
          <a:stretch>
            <a:fillRect/>
          </a:stretch>
        </p:blipFill>
        <p:spPr>
          <a:xfrm>
            <a:off x="274325" y="805550"/>
            <a:ext cx="4596775" cy="1495425"/>
          </a:xfrm>
          <a:prstGeom prst="rect">
            <a:avLst/>
          </a:prstGeom>
          <a:noFill/>
          <a:ln>
            <a:noFill/>
          </a:ln>
        </p:spPr>
      </p:pic>
      <p:pic>
        <p:nvPicPr>
          <p:cNvPr id="310" name="Google Shape;310;p25"/>
          <p:cNvPicPr preferRelativeResize="0"/>
          <p:nvPr/>
        </p:nvPicPr>
        <p:blipFill>
          <a:blip r:embed="rId4">
            <a:alphaModFix/>
          </a:blip>
          <a:stretch>
            <a:fillRect/>
          </a:stretch>
        </p:blipFill>
        <p:spPr>
          <a:xfrm>
            <a:off x="5106775" y="835280"/>
            <a:ext cx="2906518" cy="1435958"/>
          </a:xfrm>
          <a:prstGeom prst="rect">
            <a:avLst/>
          </a:prstGeom>
          <a:noFill/>
          <a:ln>
            <a:noFill/>
          </a:ln>
        </p:spPr>
      </p:pic>
      <p:pic>
        <p:nvPicPr>
          <p:cNvPr id="311" name="Google Shape;311;p25"/>
          <p:cNvPicPr preferRelativeResize="0"/>
          <p:nvPr/>
        </p:nvPicPr>
        <p:blipFill>
          <a:blip r:embed="rId5">
            <a:alphaModFix/>
          </a:blip>
          <a:stretch>
            <a:fillRect/>
          </a:stretch>
        </p:blipFill>
        <p:spPr>
          <a:xfrm>
            <a:off x="372650" y="2934488"/>
            <a:ext cx="4533900" cy="1866900"/>
          </a:xfrm>
          <a:prstGeom prst="rect">
            <a:avLst/>
          </a:prstGeom>
          <a:noFill/>
          <a:ln>
            <a:noFill/>
          </a:ln>
        </p:spPr>
      </p:pic>
      <p:pic>
        <p:nvPicPr>
          <p:cNvPr id="312" name="Google Shape;312;p25"/>
          <p:cNvPicPr preferRelativeResize="0"/>
          <p:nvPr/>
        </p:nvPicPr>
        <p:blipFill>
          <a:blip r:embed="rId6">
            <a:alphaModFix/>
          </a:blip>
          <a:stretch>
            <a:fillRect/>
          </a:stretch>
        </p:blipFill>
        <p:spPr>
          <a:xfrm>
            <a:off x="5263550" y="2934500"/>
            <a:ext cx="3228975" cy="1657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317"/>
        <p:cNvGrpSpPr/>
        <p:nvPr/>
      </p:nvGrpSpPr>
      <p:grpSpPr>
        <a:xfrm>
          <a:off x="0" y="0"/>
          <a:ext cx="0" cy="0"/>
          <a:chOff x="0" y="0"/>
          <a:chExt cx="0" cy="0"/>
        </a:xfrm>
      </p:grpSpPr>
      <p:sp>
        <p:nvSpPr>
          <p:cNvPr id="318" name="Google Shape;318;p26"/>
          <p:cNvSpPr/>
          <p:nvPr/>
        </p:nvSpPr>
        <p:spPr>
          <a:xfrm>
            <a:off x="274325" y="218600"/>
            <a:ext cx="8218200" cy="540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endParaRPr sz="1100" b="1">
              <a:solidFill>
                <a:schemeClr val="dk1"/>
              </a:solidFill>
            </a:endParaRPr>
          </a:p>
          <a:p>
            <a:pPr marL="0" lvl="0" indent="0" algn="l" rtl="0">
              <a:spcBef>
                <a:spcPts val="0"/>
              </a:spcBef>
              <a:spcAft>
                <a:spcPts val="0"/>
              </a:spcAft>
              <a:buClr>
                <a:schemeClr val="dk1"/>
              </a:buClr>
              <a:buSzPts val="1100"/>
              <a:buFont typeface="Arial"/>
              <a:buNone/>
            </a:pPr>
            <a:r>
              <a:rPr lang="en-US" sz="1100" b="1">
                <a:solidFill>
                  <a:srgbClr val="EF4444"/>
                </a:solidFill>
              </a:rPr>
              <a:t>      Emission-to-GDP Ratio by Country and Year                                                Output  </a:t>
            </a:r>
            <a:endParaRPr sz="1100" b="1">
              <a:solidFill>
                <a:srgbClr val="EF4444"/>
              </a:solidFill>
            </a:endParaRPr>
          </a:p>
          <a:p>
            <a:pPr marL="0" lvl="0" indent="0" algn="l" rtl="0">
              <a:spcBef>
                <a:spcPts val="0"/>
              </a:spcBef>
              <a:spcAft>
                <a:spcPts val="0"/>
              </a:spcAft>
              <a:buClr>
                <a:schemeClr val="dk1"/>
              </a:buClr>
              <a:buSzPts val="1100"/>
              <a:buFont typeface="Arial"/>
              <a:buNone/>
            </a:pPr>
            <a:endParaRPr sz="1100">
              <a:solidFill>
                <a:srgbClr val="FF0000"/>
              </a:solidFill>
            </a:endParaRPr>
          </a:p>
        </p:txBody>
      </p:sp>
      <p:sp>
        <p:nvSpPr>
          <p:cNvPr id="319" name="Google Shape;319;p26"/>
          <p:cNvSpPr/>
          <p:nvPr/>
        </p:nvSpPr>
        <p:spPr>
          <a:xfrm>
            <a:off x="7315200" y="164592"/>
            <a:ext cx="1554600" cy="5943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1B2A"/>
              </a:buClr>
              <a:buSzPts val="1800"/>
              <a:buFont typeface="Calibri"/>
              <a:buNone/>
            </a:pPr>
            <a:endParaRPr sz="1800">
              <a:solidFill>
                <a:schemeClr val="dk1"/>
              </a:solidFill>
              <a:latin typeface="Calibri"/>
              <a:ea typeface="Calibri"/>
              <a:cs typeface="Calibri"/>
              <a:sym typeface="Calibri"/>
            </a:endParaRPr>
          </a:p>
        </p:txBody>
      </p:sp>
      <p:sp>
        <p:nvSpPr>
          <p:cNvPr id="320" name="Google Shape;320;p26"/>
          <p:cNvSpPr/>
          <p:nvPr/>
        </p:nvSpPr>
        <p:spPr>
          <a:xfrm>
            <a:off x="274320" y="3794760"/>
            <a:ext cx="4755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endParaRPr sz="1300">
              <a:solidFill>
                <a:schemeClr val="dk1"/>
              </a:solidFill>
              <a:latin typeface="Calibri"/>
              <a:ea typeface="Calibri"/>
              <a:cs typeface="Calibri"/>
              <a:sym typeface="Calibri"/>
            </a:endParaRPr>
          </a:p>
        </p:txBody>
      </p:sp>
      <p:sp>
        <p:nvSpPr>
          <p:cNvPr id="321" name="Google Shape;321;p26"/>
          <p:cNvSpPr txBox="1"/>
          <p:nvPr/>
        </p:nvSpPr>
        <p:spPr>
          <a:xfrm>
            <a:off x="372650" y="2499650"/>
            <a:ext cx="78465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100" b="1">
                <a:solidFill>
                  <a:srgbClr val="EF4444"/>
                </a:solidFill>
              </a:rPr>
              <a:t>  Energy Consumption Per Capita Over the Last Decade                             Output</a:t>
            </a:r>
            <a:endParaRPr sz="1100" b="1">
              <a:solidFill>
                <a:srgbClr val="EF4444"/>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US" sz="1100" b="1">
                <a:solidFill>
                  <a:srgbClr val="EF4444"/>
                </a:solidFill>
              </a:rPr>
              <a:t>                                                                 </a:t>
            </a:r>
            <a:r>
              <a:rPr lang="en-US" sz="1100">
                <a:solidFill>
                  <a:srgbClr val="EF4444"/>
                </a:solidFill>
              </a:rPr>
              <a:t>                                                            </a:t>
            </a:r>
            <a:endParaRPr sz="1100">
              <a:solidFill>
                <a:srgbClr val="EF4444"/>
              </a:solidFill>
            </a:endParaRPr>
          </a:p>
          <a:p>
            <a:pPr marL="0" lvl="0" indent="0" algn="l" rtl="0">
              <a:spcBef>
                <a:spcPts val="0"/>
              </a:spcBef>
              <a:spcAft>
                <a:spcPts val="0"/>
              </a:spcAft>
              <a:buNone/>
            </a:pPr>
            <a:endParaRPr>
              <a:solidFill>
                <a:srgbClr val="EF4444"/>
              </a:solidFill>
            </a:endParaRPr>
          </a:p>
        </p:txBody>
      </p:sp>
      <p:pic>
        <p:nvPicPr>
          <p:cNvPr id="322" name="Google Shape;322;p26"/>
          <p:cNvPicPr preferRelativeResize="0"/>
          <p:nvPr/>
        </p:nvPicPr>
        <p:blipFill>
          <a:blip r:embed="rId3">
            <a:alphaModFix/>
          </a:blip>
          <a:stretch>
            <a:fillRect/>
          </a:stretch>
        </p:blipFill>
        <p:spPr>
          <a:xfrm>
            <a:off x="315500" y="680363"/>
            <a:ext cx="4648200" cy="1819275"/>
          </a:xfrm>
          <a:prstGeom prst="rect">
            <a:avLst/>
          </a:prstGeom>
          <a:noFill/>
          <a:ln>
            <a:noFill/>
          </a:ln>
        </p:spPr>
      </p:pic>
      <p:pic>
        <p:nvPicPr>
          <p:cNvPr id="323" name="Google Shape;323;p26"/>
          <p:cNvPicPr preferRelativeResize="0"/>
          <p:nvPr/>
        </p:nvPicPr>
        <p:blipFill>
          <a:blip r:embed="rId4">
            <a:alphaModFix/>
          </a:blip>
          <a:stretch>
            <a:fillRect/>
          </a:stretch>
        </p:blipFill>
        <p:spPr>
          <a:xfrm>
            <a:off x="5263547" y="694650"/>
            <a:ext cx="3645599" cy="1790700"/>
          </a:xfrm>
          <a:prstGeom prst="rect">
            <a:avLst/>
          </a:prstGeom>
          <a:noFill/>
          <a:ln>
            <a:noFill/>
          </a:ln>
        </p:spPr>
      </p:pic>
      <p:pic>
        <p:nvPicPr>
          <p:cNvPr id="324" name="Google Shape;324;p26"/>
          <p:cNvPicPr preferRelativeResize="0"/>
          <p:nvPr/>
        </p:nvPicPr>
        <p:blipFill>
          <a:blip r:embed="rId5">
            <a:alphaModFix/>
          </a:blip>
          <a:stretch>
            <a:fillRect/>
          </a:stretch>
        </p:blipFill>
        <p:spPr>
          <a:xfrm>
            <a:off x="315500" y="2859350"/>
            <a:ext cx="4648200" cy="1913100"/>
          </a:xfrm>
          <a:prstGeom prst="rect">
            <a:avLst/>
          </a:prstGeom>
          <a:noFill/>
          <a:ln>
            <a:noFill/>
          </a:ln>
        </p:spPr>
      </p:pic>
      <p:pic>
        <p:nvPicPr>
          <p:cNvPr id="325" name="Google Shape;325;p26"/>
          <p:cNvPicPr preferRelativeResize="0"/>
          <p:nvPr/>
        </p:nvPicPr>
        <p:blipFill>
          <a:blip r:embed="rId6">
            <a:alphaModFix/>
          </a:blip>
          <a:stretch>
            <a:fillRect/>
          </a:stretch>
        </p:blipFill>
        <p:spPr>
          <a:xfrm>
            <a:off x="5223488" y="2926500"/>
            <a:ext cx="3725725" cy="1685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Shape 330"/>
        <p:cNvGrpSpPr/>
        <p:nvPr/>
      </p:nvGrpSpPr>
      <p:grpSpPr>
        <a:xfrm>
          <a:off x="0" y="0"/>
          <a:ext cx="0" cy="0"/>
          <a:chOff x="0" y="0"/>
          <a:chExt cx="0" cy="0"/>
        </a:xfrm>
      </p:grpSpPr>
      <p:sp>
        <p:nvSpPr>
          <p:cNvPr id="331" name="Google Shape;331;p27"/>
          <p:cNvSpPr/>
          <p:nvPr/>
        </p:nvSpPr>
        <p:spPr>
          <a:xfrm>
            <a:off x="274325" y="58275"/>
            <a:ext cx="8218200" cy="540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endParaRPr sz="1100" b="1">
              <a:solidFill>
                <a:schemeClr val="dk1"/>
              </a:solidFill>
            </a:endParaRPr>
          </a:p>
          <a:p>
            <a:pPr marL="0" lvl="0" indent="0" algn="l" rtl="0">
              <a:spcBef>
                <a:spcPts val="0"/>
              </a:spcBef>
              <a:spcAft>
                <a:spcPts val="0"/>
              </a:spcAft>
              <a:buClr>
                <a:schemeClr val="dk1"/>
              </a:buClr>
              <a:buSzPts val="1100"/>
              <a:buFont typeface="Arial"/>
              <a:buNone/>
            </a:pPr>
            <a:r>
              <a:rPr lang="en-US" sz="1100" b="1">
                <a:solidFill>
                  <a:srgbClr val="EF4444"/>
                </a:solidFill>
              </a:rPr>
              <a:t>      Global Economic &amp; Environmental Indicators by Year                                       Output  </a:t>
            </a:r>
            <a:endParaRPr sz="1100" b="1">
              <a:solidFill>
                <a:srgbClr val="EF4444"/>
              </a:solidFill>
            </a:endParaRPr>
          </a:p>
          <a:p>
            <a:pPr marL="0" lvl="0" indent="0" algn="l" rtl="0">
              <a:spcBef>
                <a:spcPts val="0"/>
              </a:spcBef>
              <a:spcAft>
                <a:spcPts val="0"/>
              </a:spcAft>
              <a:buClr>
                <a:schemeClr val="dk1"/>
              </a:buClr>
              <a:buSzPts val="1100"/>
              <a:buFont typeface="Arial"/>
              <a:buNone/>
            </a:pPr>
            <a:endParaRPr sz="1100">
              <a:solidFill>
                <a:srgbClr val="FF0000"/>
              </a:solidFill>
            </a:endParaRPr>
          </a:p>
        </p:txBody>
      </p:sp>
      <p:sp>
        <p:nvSpPr>
          <p:cNvPr id="332" name="Google Shape;332;p27"/>
          <p:cNvSpPr/>
          <p:nvPr/>
        </p:nvSpPr>
        <p:spPr>
          <a:xfrm>
            <a:off x="7315200" y="164592"/>
            <a:ext cx="1554600" cy="5943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D1B2A"/>
              </a:buClr>
              <a:buSzPts val="1800"/>
              <a:buFont typeface="Calibri"/>
              <a:buNone/>
            </a:pPr>
            <a:endParaRPr sz="1800">
              <a:solidFill>
                <a:schemeClr val="dk1"/>
              </a:solidFill>
              <a:latin typeface="Calibri"/>
              <a:ea typeface="Calibri"/>
              <a:cs typeface="Calibri"/>
              <a:sym typeface="Calibri"/>
            </a:endParaRPr>
          </a:p>
        </p:txBody>
      </p:sp>
      <p:sp>
        <p:nvSpPr>
          <p:cNvPr id="333" name="Google Shape;333;p27"/>
          <p:cNvSpPr/>
          <p:nvPr/>
        </p:nvSpPr>
        <p:spPr>
          <a:xfrm>
            <a:off x="274320" y="3794760"/>
            <a:ext cx="4755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300"/>
              <a:buFont typeface="Calibri"/>
              <a:buNone/>
            </a:pPr>
            <a:endParaRPr sz="1300">
              <a:solidFill>
                <a:schemeClr val="dk1"/>
              </a:solidFill>
              <a:latin typeface="Calibri"/>
              <a:ea typeface="Calibri"/>
              <a:cs typeface="Calibri"/>
              <a:sym typeface="Calibri"/>
            </a:endParaRPr>
          </a:p>
        </p:txBody>
      </p:sp>
      <p:sp>
        <p:nvSpPr>
          <p:cNvPr id="334" name="Google Shape;334;p27"/>
          <p:cNvSpPr txBox="1"/>
          <p:nvPr/>
        </p:nvSpPr>
        <p:spPr>
          <a:xfrm>
            <a:off x="372650" y="2499650"/>
            <a:ext cx="7846500" cy="59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100" b="1">
                <a:solidFill>
                  <a:srgbClr val="EF4444"/>
                </a:solidFill>
              </a:rPr>
              <a:t>  Percentage Share of Emissions by Nation                                                           Output</a:t>
            </a:r>
            <a:endParaRPr sz="1100" b="1">
              <a:solidFill>
                <a:srgbClr val="EF4444"/>
              </a:solidFill>
            </a:endParaRPr>
          </a:p>
          <a:p>
            <a:pPr marL="0" lvl="0" indent="0" algn="l" rtl="0">
              <a:spcBef>
                <a:spcPts val="0"/>
              </a:spcBef>
              <a:spcAft>
                <a:spcPts val="0"/>
              </a:spcAft>
              <a:buNone/>
            </a:pPr>
            <a:endParaRPr sz="1100">
              <a:solidFill>
                <a:schemeClr val="dk1"/>
              </a:solidFill>
            </a:endParaRPr>
          </a:p>
          <a:p>
            <a:pPr marL="0" lvl="0" indent="0" algn="l" rtl="0">
              <a:spcBef>
                <a:spcPts val="0"/>
              </a:spcBef>
              <a:spcAft>
                <a:spcPts val="0"/>
              </a:spcAft>
              <a:buNone/>
            </a:pPr>
            <a:r>
              <a:rPr lang="en-US" sz="1100" b="1">
                <a:solidFill>
                  <a:srgbClr val="EF4444"/>
                </a:solidFill>
              </a:rPr>
              <a:t>                                                                 </a:t>
            </a:r>
            <a:r>
              <a:rPr lang="en-US" sz="1100">
                <a:solidFill>
                  <a:srgbClr val="EF4444"/>
                </a:solidFill>
              </a:rPr>
              <a:t>                                                            </a:t>
            </a:r>
            <a:endParaRPr sz="1100">
              <a:solidFill>
                <a:srgbClr val="EF4444"/>
              </a:solidFill>
            </a:endParaRPr>
          </a:p>
          <a:p>
            <a:pPr marL="0" lvl="0" indent="0" algn="l" rtl="0">
              <a:spcBef>
                <a:spcPts val="0"/>
              </a:spcBef>
              <a:spcAft>
                <a:spcPts val="0"/>
              </a:spcAft>
              <a:buNone/>
            </a:pPr>
            <a:endParaRPr>
              <a:solidFill>
                <a:srgbClr val="EF4444"/>
              </a:solidFill>
            </a:endParaRPr>
          </a:p>
        </p:txBody>
      </p:sp>
      <p:pic>
        <p:nvPicPr>
          <p:cNvPr id="335" name="Google Shape;335;p27"/>
          <p:cNvPicPr preferRelativeResize="0"/>
          <p:nvPr/>
        </p:nvPicPr>
        <p:blipFill>
          <a:blip r:embed="rId3">
            <a:alphaModFix/>
          </a:blip>
          <a:stretch>
            <a:fillRect/>
          </a:stretch>
        </p:blipFill>
        <p:spPr>
          <a:xfrm>
            <a:off x="315500" y="538191"/>
            <a:ext cx="4714500" cy="1850950"/>
          </a:xfrm>
          <a:prstGeom prst="rect">
            <a:avLst/>
          </a:prstGeom>
          <a:noFill/>
          <a:ln>
            <a:noFill/>
          </a:ln>
        </p:spPr>
      </p:pic>
      <p:pic>
        <p:nvPicPr>
          <p:cNvPr id="336" name="Google Shape;336;p27"/>
          <p:cNvPicPr preferRelativeResize="0"/>
          <p:nvPr/>
        </p:nvPicPr>
        <p:blipFill>
          <a:blip r:embed="rId4">
            <a:alphaModFix/>
          </a:blip>
          <a:stretch>
            <a:fillRect/>
          </a:stretch>
        </p:blipFill>
        <p:spPr>
          <a:xfrm>
            <a:off x="5386875" y="516677"/>
            <a:ext cx="3562350" cy="1427275"/>
          </a:xfrm>
          <a:prstGeom prst="rect">
            <a:avLst/>
          </a:prstGeom>
          <a:noFill/>
          <a:ln>
            <a:noFill/>
          </a:ln>
        </p:spPr>
      </p:pic>
      <p:pic>
        <p:nvPicPr>
          <p:cNvPr id="337" name="Google Shape;337;p27"/>
          <p:cNvPicPr preferRelativeResize="0"/>
          <p:nvPr/>
        </p:nvPicPr>
        <p:blipFill>
          <a:blip r:embed="rId5">
            <a:alphaModFix/>
          </a:blip>
          <a:stretch>
            <a:fillRect/>
          </a:stretch>
        </p:blipFill>
        <p:spPr>
          <a:xfrm>
            <a:off x="274325" y="2926500"/>
            <a:ext cx="4755675" cy="1850950"/>
          </a:xfrm>
          <a:prstGeom prst="rect">
            <a:avLst/>
          </a:prstGeom>
          <a:noFill/>
          <a:ln>
            <a:noFill/>
          </a:ln>
        </p:spPr>
      </p:pic>
      <p:pic>
        <p:nvPicPr>
          <p:cNvPr id="338" name="Google Shape;338;p27"/>
          <p:cNvPicPr preferRelativeResize="0"/>
          <p:nvPr/>
        </p:nvPicPr>
        <p:blipFill>
          <a:blip r:embed="rId6">
            <a:alphaModFix/>
          </a:blip>
          <a:stretch>
            <a:fillRect/>
          </a:stretch>
        </p:blipFill>
        <p:spPr>
          <a:xfrm>
            <a:off x="5386875" y="3180463"/>
            <a:ext cx="3219450" cy="1343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43"/>
        <p:cNvGrpSpPr/>
        <p:nvPr/>
      </p:nvGrpSpPr>
      <p:grpSpPr>
        <a:xfrm>
          <a:off x="0" y="0"/>
          <a:ext cx="0" cy="0"/>
          <a:chOff x="0" y="0"/>
          <a:chExt cx="0" cy="0"/>
        </a:xfrm>
      </p:grpSpPr>
      <p:sp>
        <p:nvSpPr>
          <p:cNvPr id="344" name="Google Shape;344;p28"/>
          <p:cNvSpPr/>
          <p:nvPr/>
        </p:nvSpPr>
        <p:spPr>
          <a:xfrm>
            <a:off x="0" y="0"/>
            <a:ext cx="9144000" cy="914400"/>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8"/>
          <p:cNvSpPr/>
          <p:nvPr/>
        </p:nvSpPr>
        <p:spPr>
          <a:xfrm>
            <a:off x="457200" y="182880"/>
            <a:ext cx="7772400" cy="5486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CONCLUSION </a:t>
            </a:r>
            <a:endParaRPr sz="2200">
              <a:solidFill>
                <a:schemeClr val="dk1"/>
              </a:solidFill>
              <a:latin typeface="Calibri"/>
              <a:ea typeface="Calibri"/>
              <a:cs typeface="Calibri"/>
              <a:sym typeface="Calibri"/>
            </a:endParaRPr>
          </a:p>
        </p:txBody>
      </p:sp>
      <p:sp>
        <p:nvSpPr>
          <p:cNvPr id="346" name="Google Shape;346;p28"/>
          <p:cNvSpPr/>
          <p:nvPr/>
        </p:nvSpPr>
        <p:spPr>
          <a:xfrm>
            <a:off x="8046720" y="182880"/>
            <a:ext cx="731520" cy="54864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F7B6C"/>
              </a:buClr>
              <a:buSzPts val="2200"/>
              <a:buFont typeface="Calibri"/>
              <a:buNone/>
            </a:pPr>
            <a:r>
              <a:rPr lang="en-US" sz="2200" b="1">
                <a:solidFill>
                  <a:srgbClr val="0F7B6C"/>
                </a:solidFill>
                <a:latin typeface="Calibri"/>
                <a:ea typeface="Calibri"/>
                <a:cs typeface="Calibri"/>
                <a:sym typeface="Calibri"/>
              </a:rPr>
              <a:t>06</a:t>
            </a:r>
            <a:endParaRPr sz="2200">
              <a:solidFill>
                <a:schemeClr val="dk1"/>
              </a:solidFill>
              <a:latin typeface="Calibri"/>
              <a:ea typeface="Calibri"/>
              <a:cs typeface="Calibri"/>
              <a:sym typeface="Calibri"/>
            </a:endParaRPr>
          </a:p>
        </p:txBody>
      </p:sp>
      <p:sp>
        <p:nvSpPr>
          <p:cNvPr id="347" name="Google Shape;347;p28"/>
          <p:cNvSpPr txBox="1"/>
          <p:nvPr/>
        </p:nvSpPr>
        <p:spPr>
          <a:xfrm>
            <a:off x="-740000" y="1282550"/>
            <a:ext cx="8629200" cy="2339700"/>
          </a:xfrm>
          <a:prstGeom prst="rect">
            <a:avLst/>
          </a:prstGeom>
          <a:noFill/>
          <a:ln>
            <a:noFill/>
          </a:ln>
        </p:spPr>
        <p:txBody>
          <a:bodyPr spcFirstLastPara="1" wrap="square" lIns="91425" tIns="91425" rIns="91425" bIns="91425" anchor="t" anchorCtr="0">
            <a:spAutoFit/>
          </a:bodyPr>
          <a:lstStyle/>
          <a:p>
            <a:pPr marL="1371600" lvl="0" indent="0" algn="l" rtl="0">
              <a:lnSpc>
                <a:spcPct val="150000"/>
              </a:lnSpc>
              <a:spcBef>
                <a:spcPts val="0"/>
              </a:spcBef>
              <a:spcAft>
                <a:spcPts val="0"/>
              </a:spcAft>
              <a:buNone/>
            </a:pPr>
            <a:r>
              <a:rPr lang="en-US" dirty="0">
                <a:latin typeface="Times New Roman"/>
                <a:ea typeface="Times New Roman"/>
                <a:cs typeface="Times New Roman"/>
                <a:sym typeface="Times New Roman"/>
              </a:rPr>
              <a:t>The integrated analysis of GDP, energy consumption, carbon emissions, and population reveals strong interdependencies between economic growth and environmental impact. The study shows that many high-growth economies still rely heavily on energy-intensive and carbon-emitting activities. At the same time, it highlights variations across countries, indicating that some nations are progressing toward more efficient and sustainable growth models. Overall, the unified framework successfully eliminates data silos and provides a comprehensive view of global sustainability challenges. </a:t>
            </a:r>
            <a:endParaRPr dirty="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2"/>
        <p:cNvGrpSpPr/>
        <p:nvPr/>
      </p:nvGrpSpPr>
      <p:grpSpPr>
        <a:xfrm>
          <a:off x="0" y="0"/>
          <a:ext cx="0" cy="0"/>
          <a:chOff x="0" y="0"/>
          <a:chExt cx="0" cy="0"/>
        </a:xfrm>
      </p:grpSpPr>
      <p:sp>
        <p:nvSpPr>
          <p:cNvPr id="353" name="Google Shape;353;p29"/>
          <p:cNvSpPr/>
          <p:nvPr/>
        </p:nvSpPr>
        <p:spPr>
          <a:xfrm>
            <a:off x="0" y="0"/>
            <a:ext cx="9144000" cy="914400"/>
          </a:xfrm>
          <a:prstGeom prst="rect">
            <a:avLst/>
          </a:prstGeom>
          <a:solidFill>
            <a:srgbClr val="1B2A4A"/>
          </a:solidFill>
          <a:ln w="12700" cap="flat" cmpd="sng">
            <a:solidFill>
              <a:srgbClr val="1B2A4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9"/>
          <p:cNvSpPr/>
          <p:nvPr/>
        </p:nvSpPr>
        <p:spPr>
          <a:xfrm>
            <a:off x="457200" y="182880"/>
            <a:ext cx="7772400" cy="548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200"/>
              <a:buFont typeface="Calibri"/>
              <a:buNone/>
            </a:pPr>
            <a:r>
              <a:rPr lang="en-US" sz="2200" b="1">
                <a:solidFill>
                  <a:srgbClr val="FFFFFF"/>
                </a:solidFill>
                <a:latin typeface="Calibri"/>
                <a:ea typeface="Calibri"/>
                <a:cs typeface="Calibri"/>
                <a:sym typeface="Calibri"/>
              </a:rPr>
              <a:t>RECOMMENDATIONS</a:t>
            </a:r>
            <a:endParaRPr sz="2200">
              <a:solidFill>
                <a:schemeClr val="dk1"/>
              </a:solidFill>
              <a:latin typeface="Calibri"/>
              <a:ea typeface="Calibri"/>
              <a:cs typeface="Calibri"/>
              <a:sym typeface="Calibri"/>
            </a:endParaRPr>
          </a:p>
        </p:txBody>
      </p:sp>
      <p:sp>
        <p:nvSpPr>
          <p:cNvPr id="355" name="Google Shape;355;p29"/>
          <p:cNvSpPr/>
          <p:nvPr/>
        </p:nvSpPr>
        <p:spPr>
          <a:xfrm>
            <a:off x="8046720" y="182880"/>
            <a:ext cx="731400" cy="5487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0F7B6C"/>
              </a:buClr>
              <a:buSzPts val="2200"/>
              <a:buFont typeface="Calibri"/>
              <a:buNone/>
            </a:pPr>
            <a:r>
              <a:rPr lang="en-US" sz="2200" b="1">
                <a:solidFill>
                  <a:srgbClr val="0F7B6C"/>
                </a:solidFill>
                <a:latin typeface="Calibri"/>
                <a:ea typeface="Calibri"/>
                <a:cs typeface="Calibri"/>
                <a:sym typeface="Calibri"/>
              </a:rPr>
              <a:t>06</a:t>
            </a:r>
            <a:endParaRPr sz="2200">
              <a:solidFill>
                <a:schemeClr val="dk1"/>
              </a:solidFill>
              <a:latin typeface="Calibri"/>
              <a:ea typeface="Calibri"/>
              <a:cs typeface="Calibri"/>
              <a:sym typeface="Calibri"/>
            </a:endParaRPr>
          </a:p>
        </p:txBody>
      </p:sp>
      <p:sp>
        <p:nvSpPr>
          <p:cNvPr id="356" name="Google Shape;356;p29"/>
          <p:cNvSpPr txBox="1"/>
          <p:nvPr/>
        </p:nvSpPr>
        <p:spPr>
          <a:xfrm>
            <a:off x="-740000" y="1282550"/>
            <a:ext cx="8629200" cy="3032400"/>
          </a:xfrm>
          <a:prstGeom prst="rect">
            <a:avLst/>
          </a:prstGeom>
          <a:noFill/>
          <a:ln>
            <a:noFill/>
          </a:ln>
        </p:spPr>
        <p:txBody>
          <a:bodyPr spcFirstLastPara="1" wrap="square" lIns="91425" tIns="91425" rIns="91425" bIns="91425" anchor="t" anchorCtr="0">
            <a:spAutoFit/>
          </a:bodyPr>
          <a:lstStyle/>
          <a:p>
            <a:pPr marL="1371600" lvl="0" indent="-317500" algn="l" rtl="0">
              <a:lnSpc>
                <a:spcPct val="150000"/>
              </a:lnSpc>
              <a:spcBef>
                <a:spcPts val="0"/>
              </a:spcBef>
              <a:spcAft>
                <a:spcPts val="0"/>
              </a:spcAft>
              <a:buSzPts val="1400"/>
              <a:buFont typeface="Times New Roman"/>
              <a:buChar char="❏"/>
            </a:pPr>
            <a:r>
              <a:rPr lang="en-US" sz="1100" dirty="0">
                <a:solidFill>
                  <a:schemeClr val="dk1"/>
                </a:solidFill>
              </a:rPr>
              <a:t>Countries should focus on </a:t>
            </a:r>
            <a:r>
              <a:rPr lang="en-US" sz="1100" b="1" dirty="0">
                <a:solidFill>
                  <a:schemeClr val="dk1"/>
                </a:solidFill>
              </a:rPr>
              <a:t>decoupling economic growth from carbon emissions</a:t>
            </a:r>
            <a:r>
              <a:rPr lang="en-US" sz="1100" dirty="0">
                <a:solidFill>
                  <a:schemeClr val="dk1"/>
                </a:solidFill>
              </a:rPr>
              <a:t> by adopting cleaner technologies and renewable energy sources.</a:t>
            </a:r>
            <a:endParaRPr sz="1100" dirty="0">
              <a:solidFill>
                <a:schemeClr val="dk1"/>
              </a:solidFill>
            </a:endParaRPr>
          </a:p>
          <a:p>
            <a:pPr marL="1371600" lvl="0" indent="-317500" algn="l" rtl="0">
              <a:lnSpc>
                <a:spcPct val="150000"/>
              </a:lnSpc>
              <a:spcBef>
                <a:spcPts val="0"/>
              </a:spcBef>
              <a:spcAft>
                <a:spcPts val="0"/>
              </a:spcAft>
              <a:buSzPts val="1400"/>
              <a:buFont typeface="Times New Roman"/>
              <a:buChar char="❏"/>
            </a:pPr>
            <a:r>
              <a:rPr lang="en-US" sz="1100" dirty="0">
                <a:solidFill>
                  <a:schemeClr val="dk1"/>
                </a:solidFill>
              </a:rPr>
              <a:t>Investment in </a:t>
            </a:r>
            <a:r>
              <a:rPr lang="en-US" sz="1100" b="1" dirty="0">
                <a:solidFill>
                  <a:schemeClr val="dk1"/>
                </a:solidFill>
              </a:rPr>
              <a:t>energy efficiency improvements</a:t>
            </a:r>
            <a:r>
              <a:rPr lang="en-US" sz="1100" dirty="0">
                <a:solidFill>
                  <a:schemeClr val="dk1"/>
                </a:solidFill>
              </a:rPr>
              <a:t> across industries can significantly reduce environmental impact without slowing GDP growth.</a:t>
            </a:r>
            <a:endParaRPr sz="1100" dirty="0">
              <a:solidFill>
                <a:schemeClr val="dk1"/>
              </a:solidFill>
            </a:endParaRPr>
          </a:p>
          <a:p>
            <a:pPr marL="1371600" lvl="0" indent="-317500" algn="l" rtl="0">
              <a:lnSpc>
                <a:spcPct val="150000"/>
              </a:lnSpc>
              <a:spcBef>
                <a:spcPts val="0"/>
              </a:spcBef>
              <a:spcAft>
                <a:spcPts val="0"/>
              </a:spcAft>
              <a:buSzPts val="1400"/>
              <a:buFont typeface="Times New Roman"/>
              <a:buChar char="❏"/>
            </a:pPr>
            <a:r>
              <a:rPr lang="en-US" sz="1100" dirty="0">
                <a:solidFill>
                  <a:schemeClr val="dk1"/>
                </a:solidFill>
              </a:rPr>
              <a:t>Policymakers should encourage </a:t>
            </a:r>
            <a:r>
              <a:rPr lang="en-US" sz="1100" b="1" dirty="0">
                <a:solidFill>
                  <a:schemeClr val="dk1"/>
                </a:solidFill>
              </a:rPr>
              <a:t>sustainable urban planning and green infrastructure</a:t>
            </a:r>
            <a:r>
              <a:rPr lang="en-US" sz="1100" dirty="0">
                <a:solidFill>
                  <a:schemeClr val="dk1"/>
                </a:solidFill>
              </a:rPr>
              <a:t> to manage population-driven energy demand.</a:t>
            </a:r>
            <a:endParaRPr sz="1100" dirty="0">
              <a:solidFill>
                <a:schemeClr val="dk1"/>
              </a:solidFill>
            </a:endParaRPr>
          </a:p>
          <a:p>
            <a:pPr marL="1371600" lvl="0" indent="-317500" algn="l" rtl="0">
              <a:lnSpc>
                <a:spcPct val="150000"/>
              </a:lnSpc>
              <a:spcBef>
                <a:spcPts val="0"/>
              </a:spcBef>
              <a:spcAft>
                <a:spcPts val="0"/>
              </a:spcAft>
              <a:buSzPts val="1400"/>
              <a:buFont typeface="Times New Roman"/>
              <a:buChar char="❏"/>
            </a:pPr>
            <a:r>
              <a:rPr lang="en-US" sz="1100" dirty="0">
                <a:solidFill>
                  <a:schemeClr val="dk1"/>
                </a:solidFill>
              </a:rPr>
              <a:t>High-emission countries should implement </a:t>
            </a:r>
            <a:r>
              <a:rPr lang="en-US" sz="1100" b="1" dirty="0">
                <a:solidFill>
                  <a:schemeClr val="dk1"/>
                </a:solidFill>
              </a:rPr>
              <a:t>stricter environmental regulations and carbon reduction targets</a:t>
            </a:r>
            <a:r>
              <a:rPr lang="en-US" sz="1100" dirty="0">
                <a:solidFill>
                  <a:schemeClr val="dk1"/>
                </a:solidFill>
              </a:rPr>
              <a:t>.</a:t>
            </a:r>
            <a:endParaRPr sz="1100" dirty="0">
              <a:solidFill>
                <a:schemeClr val="dk1"/>
              </a:solidFill>
            </a:endParaRPr>
          </a:p>
          <a:p>
            <a:pPr marL="1371600" lvl="0" indent="-317500" algn="l" rtl="0">
              <a:lnSpc>
                <a:spcPct val="150000"/>
              </a:lnSpc>
              <a:spcBef>
                <a:spcPts val="0"/>
              </a:spcBef>
              <a:spcAft>
                <a:spcPts val="0"/>
              </a:spcAft>
              <a:buSzPts val="1400"/>
              <a:buFont typeface="Times New Roman"/>
              <a:buChar char="❏"/>
            </a:pPr>
            <a:r>
              <a:rPr lang="en-US" sz="1100" dirty="0">
                <a:solidFill>
                  <a:schemeClr val="dk1"/>
                </a:solidFill>
              </a:rPr>
              <a:t>Continuous monitoring through integrated dashboards (like Power BI models) should be used to support </a:t>
            </a:r>
            <a:r>
              <a:rPr lang="en-US" sz="1100" b="1" dirty="0">
                <a:solidFill>
                  <a:schemeClr val="dk1"/>
                </a:solidFill>
              </a:rPr>
              <a:t>data-driven climate policy decisions</a:t>
            </a:r>
            <a:r>
              <a:rPr lang="en-US" sz="1100" dirty="0">
                <a:solidFill>
                  <a:schemeClr val="dk1"/>
                </a:solidFill>
              </a:rPr>
              <a:t>.</a:t>
            </a:r>
            <a:endParaRPr sz="1100" dirty="0">
              <a:solidFill>
                <a:schemeClr val="dk1"/>
              </a:solidFill>
            </a:endParaRPr>
          </a:p>
          <a:p>
            <a:pPr marL="1371600" lvl="0" indent="0" algn="l" rtl="0">
              <a:lnSpc>
                <a:spcPct val="150000"/>
              </a:lnSpc>
              <a:spcBef>
                <a:spcPts val="0"/>
              </a:spcBef>
              <a:spcAft>
                <a:spcPts val="0"/>
              </a:spcAft>
              <a:buNone/>
            </a:pPr>
            <a:endParaRPr dirty="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pic>
        <p:nvPicPr>
          <p:cNvPr id="361" name="Google Shape;361;p30"/>
          <p:cNvPicPr preferRelativeResize="0"/>
          <p:nvPr/>
        </p:nvPicPr>
        <p:blipFill rotWithShape="1">
          <a:blip r:embed="rId3">
            <a:alphaModFix/>
          </a:blip>
          <a:srcRect/>
          <a:stretch/>
        </p:blipFill>
        <p:spPr>
          <a:xfrm>
            <a:off x="4849887" y="1388061"/>
            <a:ext cx="3349231" cy="2125736"/>
          </a:xfrm>
          <a:prstGeom prst="rect">
            <a:avLst/>
          </a:prstGeom>
          <a:noFill/>
          <a:ln>
            <a:noFill/>
          </a:ln>
        </p:spPr>
      </p:pic>
      <p:sp>
        <p:nvSpPr>
          <p:cNvPr id="362" name="Google Shape;362;p30"/>
          <p:cNvSpPr txBox="1"/>
          <p:nvPr/>
        </p:nvSpPr>
        <p:spPr>
          <a:xfrm>
            <a:off x="933450" y="2247900"/>
            <a:ext cx="2746500" cy="57720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US" sz="33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pic>
        <p:nvPicPr>
          <p:cNvPr id="363" name="Google Shape;363;p30"/>
          <p:cNvPicPr preferRelativeResize="0"/>
          <p:nvPr/>
        </p:nvPicPr>
        <p:blipFill>
          <a:blip r:embed="rId4">
            <a:alphaModFix/>
          </a:blip>
          <a:stretch>
            <a:fillRect/>
          </a:stretch>
        </p:blipFill>
        <p:spPr>
          <a:xfrm>
            <a:off x="0" y="41583"/>
            <a:ext cx="9144000"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pic>
        <p:nvPicPr>
          <p:cNvPr id="368" name="Google Shape;368;p31"/>
          <p:cNvPicPr preferRelativeResize="0"/>
          <p:nvPr/>
        </p:nvPicPr>
        <p:blipFill rotWithShape="1">
          <a:blip r:embed="rId3">
            <a:alphaModFix/>
          </a:blip>
          <a:srcRect/>
          <a:stretch/>
        </p:blipFill>
        <p:spPr>
          <a:xfrm>
            <a:off x="4849887" y="1388061"/>
            <a:ext cx="3349232" cy="2125737"/>
          </a:xfrm>
          <a:prstGeom prst="rect">
            <a:avLst/>
          </a:prstGeom>
          <a:noFill/>
          <a:ln>
            <a:noFill/>
          </a:ln>
        </p:spPr>
      </p:pic>
      <p:sp>
        <p:nvSpPr>
          <p:cNvPr id="369" name="Google Shape;369;p31"/>
          <p:cNvSpPr txBox="1"/>
          <p:nvPr/>
        </p:nvSpPr>
        <p:spPr>
          <a:xfrm>
            <a:off x="933450" y="2247900"/>
            <a:ext cx="2746377" cy="577080"/>
          </a:xfrm>
          <a:prstGeom prst="rect">
            <a:avLst/>
          </a:prstGeom>
          <a:noFill/>
          <a:ln>
            <a:noFill/>
          </a:ln>
        </p:spPr>
        <p:txBody>
          <a:bodyPr spcFirstLastPara="1" wrap="square" lIns="68550" tIns="34275" rIns="68550" bIns="34275"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US" sz="33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932</Words>
  <Application>Microsoft Office PowerPoint</Application>
  <PresentationFormat>On-screen Show (16:9)</PresentationFormat>
  <Paragraphs>130</Paragraphs>
  <Slides>17</Slides>
  <Notes>17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Lato Black</vt:lpstr>
      <vt:lpstr>Times New Roman</vt:lpstr>
      <vt:lpstr>Calibri</vt:lpstr>
      <vt:lpstr>Roboto</vt:lpstr>
      <vt:lpstr>Arial</vt:lpstr>
      <vt:lpstr>Libre Baskerville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Jaya surya</cp:lastModifiedBy>
  <cp:revision>2</cp:revision>
  <dcterms:modified xsi:type="dcterms:W3CDTF">2026-05-13T04:59:25Z</dcterms:modified>
</cp:coreProperties>
</file>